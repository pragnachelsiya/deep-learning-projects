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4.png"/><Relationship Id="rId8" Type="http://schemas.openxmlformats.org/officeDocument/2006/relationships/image" Target="../media/image-3-8.png"/><Relationship Id="rId9" Type="http://schemas.openxmlformats.org/officeDocument/2006/relationships/image" Target="../media/image-3-9.png"/><Relationship Id="rId10" Type="http://schemas.openxmlformats.org/officeDocument/2006/relationships/image" Target="../media/image-3-4.png"/><Relationship Id="rId11" Type="http://schemas.openxmlformats.org/officeDocument/2006/relationships/image" Target="../media/image-3-11.png"/><Relationship Id="rId12" Type="http://schemas.openxmlformats.org/officeDocument/2006/relationships/image" Target="../media/image-3-12.png"/><Relationship Id="rId13" Type="http://schemas.openxmlformats.org/officeDocument/2006/relationships/image" Target="../media/image-3-4.png"/><Relationship Id="rId14" Type="http://schemas.openxmlformats.org/officeDocument/2006/relationships/slideLayout" Target="../slideLayouts/slideLayout1.xml"/><Relationship Id="rId1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image" Target="../media/image-7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image" Target="../media/image-8-7.png"/><Relationship Id="rId8" Type="http://schemas.openxmlformats.org/officeDocument/2006/relationships/image" Target="../media/image-8-8.png"/><Relationship Id="rId9" Type="http://schemas.openxmlformats.org/officeDocument/2006/relationships/image" Target="../media/image-8-9.png"/><Relationship Id="rId10" Type="http://schemas.openxmlformats.org/officeDocument/2006/relationships/image" Target="../media/image-8-10.png"/><Relationship Id="rId11" Type="http://schemas.openxmlformats.org/officeDocument/2006/relationships/image" Target="../media/image-8-11.png"/><Relationship Id="rId12" Type="http://schemas.openxmlformats.org/officeDocument/2006/relationships/slideLayout" Target="../slideLayouts/slideLayout1.xml"/><Relationship Id="rId1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image" Target="../media/image-9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507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ppt/assets/bg_network.png">    </p:cNvPr>
          <p:cNvPicPr>
            <a:picLocks noChangeAspect="1"/>
          </p:cNvPicPr>
          <p:nvPr/>
        </p:nvPicPr>
        <p:blipFill>
          <a:blip r:embed="rId1">
            <a:alphaModFix amt="32000"/>
          </a:blip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2804008" y="320040"/>
            <a:ext cx="6583680" cy="6583680"/>
          </a:xfrm>
          <a:prstGeom prst="ellipse">
            <a:avLst/>
          </a:prstGeom>
          <a:solidFill>
            <a:srgbClr val="0B2A44">
              <a:alpha val="4500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4084168" y="1600200"/>
            <a:ext cx="4023360" cy="4023360"/>
          </a:xfrm>
          <a:prstGeom prst="ellipse">
            <a:avLst/>
          </a:prstGeom>
          <a:solidFill>
            <a:srgbClr val="0F3A57">
              <a:alpha val="55000"/>
            </a:srgbClr>
          </a:solidFill>
          <a:ln/>
        </p:spPr>
      </p:sp>
      <p:sp>
        <p:nvSpPr>
          <p:cNvPr id="5" name="Shape 2"/>
          <p:cNvSpPr/>
          <p:nvPr/>
        </p:nvSpPr>
        <p:spPr>
          <a:xfrm>
            <a:off x="5181448" y="685800"/>
            <a:ext cx="1828800" cy="1828800"/>
          </a:xfrm>
          <a:prstGeom prst="ellipse">
            <a:avLst/>
          </a:prstGeom>
          <a:solidFill>
            <a:srgbClr val="0C1836"/>
          </a:solidFill>
          <a:ln w="25400">
            <a:solidFill>
              <a:srgbClr val="22E5FF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40000"/>
              </a:srgbClr>
            </a:outerShdw>
          </a:effectLst>
        </p:spPr>
      </p:sp>
      <p:pic>
        <p:nvPicPr>
          <p:cNvPr id="6" name="Image 1" descr="/home/claude/ppt/icons/brain_cya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19192" y="923544"/>
            <a:ext cx="1353312" cy="1353312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4952848" y="457200"/>
            <a:ext cx="2286000" cy="2286000"/>
          </a:xfrm>
          <a:prstGeom prst="ellipse">
            <a:avLst/>
          </a:prstGeom>
          <a:ln w="15875">
            <a:solidFill>
              <a:srgbClr val="22E5FF">
                <a:alpha val="60000"/>
              </a:srgbClr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0" y="2880360"/>
            <a:ext cx="121916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300" kern="0" dirty="0">
                <a:solidFill>
                  <a:srgbClr val="22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BCA  •  ARTIFICIAL INTELLIGENCE &amp; MACHINE LEARNING</a:t>
            </a:r>
            <a:endParaRPr lang="en-US" sz="1300" dirty="0"/>
          </a:p>
        </p:txBody>
      </p:sp>
      <p:sp>
        <p:nvSpPr>
          <p:cNvPr id="9" name="Text 5"/>
          <p:cNvSpPr/>
          <p:nvPr/>
        </p:nvSpPr>
        <p:spPr>
          <a:xfrm>
            <a:off x="731520" y="3246120"/>
            <a:ext cx="10728655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5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Future of</a:t>
            </a:r>
            <a:endParaRPr lang="en-US" sz="4600" dirty="0"/>
          </a:p>
          <a:p>
            <a:pPr algn="ctr" indent="0" marL="0">
              <a:lnSpc>
                <a:spcPts val="5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Artificial Intelligence</a:t>
            </a:r>
            <a:endParaRPr lang="en-US" sz="4600" dirty="0"/>
          </a:p>
        </p:txBody>
      </p:sp>
      <p:sp>
        <p:nvSpPr>
          <p:cNvPr id="10" name="Text 6"/>
          <p:cNvSpPr/>
          <p:nvPr/>
        </p:nvSpPr>
        <p:spPr>
          <a:xfrm>
            <a:off x="731520" y="4983480"/>
            <a:ext cx="107286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93A5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AI Will Transform Our World</a:t>
            </a:r>
            <a:endParaRPr lang="en-US" sz="1800" dirty="0"/>
          </a:p>
        </p:txBody>
      </p:sp>
      <p:sp>
        <p:nvSpPr>
          <p:cNvPr id="11" name="Text 7"/>
          <p:cNvSpPr/>
          <p:nvPr/>
        </p:nvSpPr>
        <p:spPr>
          <a:xfrm>
            <a:off x="6004408" y="5440680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2E5FF"/>
                </a:solidFill>
              </a:rPr>
              <a:t>●</a:t>
            </a:r>
            <a:endParaRPr lang="en-US" sz="800" dirty="0"/>
          </a:p>
        </p:txBody>
      </p:sp>
      <p:sp>
        <p:nvSpPr>
          <p:cNvPr id="12" name="Text 8"/>
          <p:cNvSpPr/>
          <p:nvPr/>
        </p:nvSpPr>
        <p:spPr>
          <a:xfrm>
            <a:off x="0" y="5989320"/>
            <a:ext cx="121916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Name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0" y="6309360"/>
            <a:ext cx="121916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3A5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 BCA — AI &amp; ML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507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ppt/assets/bg_network.png">    </p:cNvPr>
          <p:cNvPicPr>
            <a:picLocks noChangeAspect="1"/>
          </p:cNvPicPr>
          <p:nvPr/>
        </p:nvPicPr>
        <p:blipFill>
          <a:blip r:embed="rId1">
            <a:alphaModFix amt="22000"/>
          </a:blip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5029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22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UNDERSTANDING THE BASICS</a:t>
            </a:r>
            <a:endParaRPr lang="en-US" sz="1300" dirty="0"/>
          </a:p>
        </p:txBody>
      </p:sp>
      <p:sp>
        <p:nvSpPr>
          <p:cNvPr id="4" name="Text 1"/>
          <p:cNvSpPr/>
          <p:nvPr/>
        </p:nvSpPr>
        <p:spPr>
          <a:xfrm>
            <a:off x="640080" y="868680"/>
            <a:ext cx="7315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36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Artificial</a:t>
            </a:r>
            <a:endParaRPr lang="en-US" sz="3200" dirty="0"/>
          </a:p>
          <a:p>
            <a:pPr indent="0" marL="0">
              <a:lnSpc>
                <a:spcPts val="336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Intelligence?</a:t>
            </a:r>
            <a:endParaRPr lang="en-US" sz="3200" dirty="0"/>
          </a:p>
        </p:txBody>
      </p:sp>
      <p:sp>
        <p:nvSpPr>
          <p:cNvPr id="5" name="Shape 2"/>
          <p:cNvSpPr/>
          <p:nvPr/>
        </p:nvSpPr>
        <p:spPr>
          <a:xfrm>
            <a:off x="640080" y="2331720"/>
            <a:ext cx="5029200" cy="1234440"/>
          </a:xfrm>
          <a:prstGeom prst="roundRect">
            <a:avLst>
              <a:gd name="adj" fmla="val 8889"/>
            </a:avLst>
          </a:prstGeom>
          <a:solidFill>
            <a:srgbClr val="111C3D"/>
          </a:solidFill>
          <a:ln w="12700">
            <a:solidFill>
              <a:srgbClr val="22E5FF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914400" y="2487168"/>
            <a:ext cx="44805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200" b="1" spc="100" kern="0" dirty="0">
                <a:solidFill>
                  <a:srgbClr val="22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
</a:t>
            </a:r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ability of machines to learn, reason, and solve problems the way humans do.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640080" y="37947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93A5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EXAMPLES YOU USE TODAY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640080" y="4160520"/>
            <a:ext cx="822960" cy="822960"/>
          </a:xfrm>
          <a:prstGeom prst="ellipse">
            <a:avLst/>
          </a:prstGeom>
          <a:solidFill>
            <a:srgbClr val="111C3D"/>
          </a:solidFill>
          <a:ln w="12700">
            <a:solidFill>
              <a:srgbClr val="22E5FF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40000"/>
              </a:srgbClr>
            </a:outerShdw>
          </a:effectLst>
        </p:spPr>
      </p:sp>
      <p:pic>
        <p:nvPicPr>
          <p:cNvPr id="9" name="Image 1" descr="/home/claude/ppt/icons/comment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7065" y="4267505"/>
            <a:ext cx="608990" cy="60899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11480" y="5056632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3A5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ChatGPT</a:t>
            </a:r>
            <a:endParaRPr lang="en-US" sz="1000" dirty="0"/>
          </a:p>
        </p:txBody>
      </p:sp>
      <p:sp>
        <p:nvSpPr>
          <p:cNvPr id="11" name="Shape 7"/>
          <p:cNvSpPr/>
          <p:nvPr/>
        </p:nvSpPr>
        <p:spPr>
          <a:xfrm>
            <a:off x="1691640" y="4160520"/>
            <a:ext cx="822960" cy="822960"/>
          </a:xfrm>
          <a:prstGeom prst="ellipse">
            <a:avLst/>
          </a:prstGeom>
          <a:solidFill>
            <a:srgbClr val="111C3D"/>
          </a:solidFill>
          <a:ln w="12700">
            <a:solidFill>
              <a:srgbClr val="22E5FF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40000"/>
              </a:srgbClr>
            </a:outerShdw>
          </a:effectLst>
        </p:spPr>
      </p:sp>
      <p:pic>
        <p:nvPicPr>
          <p:cNvPr id="12" name="Image 2" descr="/home/claude/ppt/icons/locatio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98625" y="4267505"/>
            <a:ext cx="608990" cy="60899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463040" y="5056632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3A5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Maps</a:t>
            </a:r>
            <a:endParaRPr lang="en-US" sz="1000" dirty="0"/>
          </a:p>
        </p:txBody>
      </p:sp>
      <p:sp>
        <p:nvSpPr>
          <p:cNvPr id="14" name="Shape 9"/>
          <p:cNvSpPr/>
          <p:nvPr/>
        </p:nvSpPr>
        <p:spPr>
          <a:xfrm>
            <a:off x="2743200" y="4160520"/>
            <a:ext cx="822960" cy="822960"/>
          </a:xfrm>
          <a:prstGeom prst="ellipse">
            <a:avLst/>
          </a:prstGeom>
          <a:solidFill>
            <a:srgbClr val="111C3D"/>
          </a:solidFill>
          <a:ln w="12700">
            <a:solidFill>
              <a:srgbClr val="22E5FF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40000"/>
              </a:srgbClr>
            </a:outerShdw>
          </a:effectLst>
        </p:spPr>
      </p:sp>
      <p:pic>
        <p:nvPicPr>
          <p:cNvPr id="15" name="Image 3" descr="/home/claude/ppt/icons/mic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50185" y="4267505"/>
            <a:ext cx="608990" cy="608990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2514600" y="5056632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3A5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Siri</a:t>
            </a:r>
            <a:endParaRPr lang="en-US" sz="1000" dirty="0"/>
          </a:p>
        </p:txBody>
      </p:sp>
      <p:sp>
        <p:nvSpPr>
          <p:cNvPr id="17" name="Shape 11"/>
          <p:cNvSpPr/>
          <p:nvPr/>
        </p:nvSpPr>
        <p:spPr>
          <a:xfrm>
            <a:off x="3794760" y="4160520"/>
            <a:ext cx="822960" cy="822960"/>
          </a:xfrm>
          <a:prstGeom prst="ellipse">
            <a:avLst/>
          </a:prstGeom>
          <a:solidFill>
            <a:srgbClr val="111C3D"/>
          </a:solidFill>
          <a:ln w="12700">
            <a:solidFill>
              <a:srgbClr val="22E5FF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40000"/>
              </a:srgbClr>
            </a:outerShdw>
          </a:effectLst>
        </p:spPr>
      </p:sp>
      <p:pic>
        <p:nvPicPr>
          <p:cNvPr id="18" name="Image 4" descr="/home/claude/ppt/icons/facestar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01745" y="4267505"/>
            <a:ext cx="608990" cy="608990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3566160" y="5056632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3A5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 Unlock</a:t>
            </a:r>
            <a:endParaRPr lang="en-US" sz="1000" dirty="0"/>
          </a:p>
        </p:txBody>
      </p:sp>
      <p:sp>
        <p:nvSpPr>
          <p:cNvPr id="20" name="Shape 13"/>
          <p:cNvSpPr/>
          <p:nvPr/>
        </p:nvSpPr>
        <p:spPr>
          <a:xfrm>
            <a:off x="4846320" y="4160520"/>
            <a:ext cx="822960" cy="822960"/>
          </a:xfrm>
          <a:prstGeom prst="ellipse">
            <a:avLst/>
          </a:prstGeom>
          <a:solidFill>
            <a:srgbClr val="111C3D"/>
          </a:solidFill>
          <a:ln w="12700">
            <a:solidFill>
              <a:srgbClr val="22E5FF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40000"/>
              </a:srgbClr>
            </a:outerShdw>
          </a:effectLst>
        </p:spPr>
      </p:sp>
      <p:pic>
        <p:nvPicPr>
          <p:cNvPr id="21" name="Image 5" descr="/home/claude/ppt/icons/tv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53305" y="4267505"/>
            <a:ext cx="608990" cy="608990"/>
          </a:xfrm>
          <a:prstGeom prst="rect">
            <a:avLst/>
          </a:prstGeom>
        </p:spPr>
      </p:pic>
      <p:sp>
        <p:nvSpPr>
          <p:cNvPr id="22" name="Text 14"/>
          <p:cNvSpPr/>
          <p:nvPr/>
        </p:nvSpPr>
        <p:spPr>
          <a:xfrm>
            <a:off x="4617720" y="5056632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3A5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Netflix Picks</a:t>
            </a:r>
            <a:endParaRPr lang="en-US" sz="1000" dirty="0"/>
          </a:p>
        </p:txBody>
      </p:sp>
      <p:sp>
        <p:nvSpPr>
          <p:cNvPr id="23" name="Shape 15"/>
          <p:cNvSpPr/>
          <p:nvPr/>
        </p:nvSpPr>
        <p:spPr>
          <a:xfrm>
            <a:off x="6172200" y="2194560"/>
            <a:ext cx="5394960" cy="3223171"/>
          </a:xfrm>
          <a:prstGeom prst="roundRect">
            <a:avLst>
              <a:gd name="adj" fmla="val 4255"/>
            </a:avLst>
          </a:prstGeom>
          <a:solidFill>
            <a:srgbClr val="111C3D"/>
          </a:solidFill>
          <a:ln w="19050">
            <a:solidFill>
              <a:srgbClr val="22E5FF"/>
            </a:solidFill>
            <a:prstDash val="solid"/>
          </a:ln>
          <a:effectLst>
            <a:outerShdw sx="100000" sy="100000" kx="0" ky="0" algn="bl" rotWithShape="0" blurRad="254000" dist="50800" dir="16200000">
              <a:srgbClr val="00D9FF">
                <a:alpha val="35000"/>
              </a:srgbClr>
            </a:outerShdw>
          </a:effectLst>
        </p:spPr>
      </p:sp>
      <p:pic>
        <p:nvPicPr>
          <p:cNvPr id="24" name="Image 6" descr="/home/claude/ppt/assets/brain_cropped.png">    </p:cNvPr>
          <p:cNvPicPr>
            <a:picLocks noChangeAspect="1"/>
          </p:cNvPicPr>
          <p:nvPr/>
        </p:nvPicPr>
        <p:blipFill>
          <a:blip r:embed="rId7"/>
          <a:srcRect l="0" r="0" t="0" b="0"/>
          <a:stretch/>
        </p:blipFill>
        <p:spPr>
          <a:xfrm>
            <a:off x="6309360" y="2331720"/>
            <a:ext cx="5120640" cy="2948851"/>
          </a:xfrm>
          <a:prstGeom prst="rect">
            <a:avLst/>
          </a:prstGeom>
        </p:spPr>
      </p:pic>
      <p:sp>
        <p:nvSpPr>
          <p:cNvPr id="25" name="Text 16"/>
          <p:cNvSpPr/>
          <p:nvPr/>
        </p:nvSpPr>
        <p:spPr>
          <a:xfrm>
            <a:off x="10911535" y="640080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3A5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/ 12</a:t>
            </a:r>
            <a:endParaRPr lang="en-US" sz="1000" dirty="0"/>
          </a:p>
        </p:txBody>
      </p:sp>
      <p:sp>
        <p:nvSpPr>
          <p:cNvPr id="26" name="Text 1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200" kern="0" dirty="0">
                <a:solidFill>
                  <a:srgbClr val="93A5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FUTURE OF AI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507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ppt/assets/bg_network.png">    </p:cNvPr>
          <p:cNvPicPr>
            <a:picLocks noChangeAspect="1"/>
          </p:cNvPicPr>
          <p:nvPr/>
        </p:nvPicPr>
        <p:blipFill>
          <a:blip r:embed="rId1">
            <a:alphaModFix amt="22000"/>
          </a:blip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5029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22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SHIFT</a:t>
            </a:r>
            <a:endParaRPr lang="en-US" sz="1300" dirty="0"/>
          </a:p>
        </p:txBody>
      </p:sp>
      <p:sp>
        <p:nvSpPr>
          <p:cNvPr id="4" name="Text 1"/>
          <p:cNvSpPr/>
          <p:nvPr/>
        </p:nvSpPr>
        <p:spPr>
          <a:xfrm>
            <a:off x="640080" y="86868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36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Today vs. AI Tomorrow</a:t>
            </a:r>
            <a:endParaRPr lang="en-US" sz="3200" dirty="0"/>
          </a:p>
        </p:txBody>
      </p:sp>
      <p:sp>
        <p:nvSpPr>
          <p:cNvPr id="5" name="Shape 2"/>
          <p:cNvSpPr/>
          <p:nvPr/>
        </p:nvSpPr>
        <p:spPr>
          <a:xfrm>
            <a:off x="640080" y="1965960"/>
            <a:ext cx="4754880" cy="502920"/>
          </a:xfrm>
          <a:prstGeom prst="roundRect">
            <a:avLst>
              <a:gd name="adj" fmla="val 18182"/>
            </a:avLst>
          </a:prstGeom>
          <a:solidFill>
            <a:srgbClr val="17233F"/>
          </a:solidFill>
          <a:ln/>
        </p:spPr>
      </p:sp>
      <p:sp>
        <p:nvSpPr>
          <p:cNvPr id="6" name="Text 3"/>
          <p:cNvSpPr/>
          <p:nvPr/>
        </p:nvSpPr>
        <p:spPr>
          <a:xfrm>
            <a:off x="640080" y="1965960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spc="200" kern="0" dirty="0">
                <a:solidFill>
                  <a:srgbClr val="93A5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TODAY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6812280" y="1965960"/>
            <a:ext cx="4754880" cy="502920"/>
          </a:xfrm>
          <a:prstGeom prst="roundRect">
            <a:avLst>
              <a:gd name="adj" fmla="val 18182"/>
            </a:avLst>
          </a:prstGeom>
          <a:solidFill>
            <a:srgbClr val="0C3A46"/>
          </a:solidFill>
          <a:ln w="12700">
            <a:solidFill>
              <a:srgbClr val="22E5F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812280" y="1965960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spc="200" kern="0" dirty="0">
                <a:solidFill>
                  <a:srgbClr val="22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TOMORROW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640080" y="2697480"/>
            <a:ext cx="4754880" cy="777240"/>
          </a:xfrm>
          <a:prstGeom prst="roundRect">
            <a:avLst>
              <a:gd name="adj" fmla="val 14118"/>
            </a:avLst>
          </a:prstGeom>
          <a:solidFill>
            <a:srgbClr val="111C3D"/>
          </a:solidFill>
          <a:ln w="12700">
            <a:solidFill>
              <a:srgbClr val="1E2E5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804672" y="2857500"/>
            <a:ext cx="457200" cy="457200"/>
          </a:xfrm>
          <a:prstGeom prst="ellipse">
            <a:avLst/>
          </a:prstGeom>
          <a:solidFill>
            <a:srgbClr val="1A2A52"/>
          </a:solidFill>
          <a:ln w="9525">
            <a:solidFill>
              <a:srgbClr val="22E5FF"/>
            </a:solidFill>
            <a:prstDash val="solid"/>
          </a:ln>
        </p:spPr>
      </p:sp>
      <p:pic>
        <p:nvPicPr>
          <p:cNvPr id="11" name="Image 1" descr="/home/claude/ppt/icons/mic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4108" y="2916936"/>
            <a:ext cx="338328" cy="33832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417320" y="2697480"/>
            <a:ext cx="3840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Assistants</a:t>
            </a:r>
            <a:endParaRPr lang="en-US" sz="1400" dirty="0"/>
          </a:p>
        </p:txBody>
      </p:sp>
      <p:sp>
        <p:nvSpPr>
          <p:cNvPr id="13" name="Shape 9"/>
          <p:cNvSpPr/>
          <p:nvPr/>
        </p:nvSpPr>
        <p:spPr>
          <a:xfrm>
            <a:off x="6812280" y="2697480"/>
            <a:ext cx="4754880" cy="777240"/>
          </a:xfrm>
          <a:prstGeom prst="roundRect">
            <a:avLst>
              <a:gd name="adj" fmla="val 14118"/>
            </a:avLst>
          </a:prstGeom>
          <a:solidFill>
            <a:srgbClr val="0E2436"/>
          </a:solidFill>
          <a:ln w="12700">
            <a:solidFill>
              <a:srgbClr val="22E5FF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6976872" y="2857500"/>
            <a:ext cx="457200" cy="457200"/>
          </a:xfrm>
          <a:prstGeom prst="ellipse">
            <a:avLst/>
          </a:prstGeom>
          <a:solidFill>
            <a:srgbClr val="0A3345"/>
          </a:solidFill>
          <a:ln w="12700">
            <a:solidFill>
              <a:srgbClr val="22E5FF"/>
            </a:solidFill>
            <a:prstDash val="solid"/>
          </a:ln>
        </p:spPr>
      </p:sp>
      <p:pic>
        <p:nvPicPr>
          <p:cNvPr id="15" name="Image 2" descr="/home/claude/ppt/icons/usergroup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36308" y="2916936"/>
            <a:ext cx="338328" cy="338328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7589520" y="2697480"/>
            <a:ext cx="3840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 AI Companions</a:t>
            </a:r>
            <a:endParaRPr lang="en-US" sz="1400" dirty="0"/>
          </a:p>
        </p:txBody>
      </p:sp>
      <p:pic>
        <p:nvPicPr>
          <p:cNvPr id="17" name="Image 3" descr="/home/claude/ppt/icons/arrowrigh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13248" y="2976372"/>
            <a:ext cx="219456" cy="219456"/>
          </a:xfrm>
          <a:prstGeom prst="rect">
            <a:avLst/>
          </a:prstGeom>
        </p:spPr>
      </p:pic>
      <p:sp>
        <p:nvSpPr>
          <p:cNvPr id="18" name="Shape 12"/>
          <p:cNvSpPr/>
          <p:nvPr/>
        </p:nvSpPr>
        <p:spPr>
          <a:xfrm>
            <a:off x="640080" y="3584448"/>
            <a:ext cx="4754880" cy="777240"/>
          </a:xfrm>
          <a:prstGeom prst="roundRect">
            <a:avLst>
              <a:gd name="adj" fmla="val 14118"/>
            </a:avLst>
          </a:prstGeom>
          <a:solidFill>
            <a:srgbClr val="111C3D"/>
          </a:solidFill>
          <a:ln w="12700">
            <a:solidFill>
              <a:srgbClr val="1E2E5C"/>
            </a:solidFill>
            <a:prstDash val="solid"/>
          </a:ln>
        </p:spPr>
      </p:sp>
      <p:sp>
        <p:nvSpPr>
          <p:cNvPr id="19" name="Shape 13"/>
          <p:cNvSpPr/>
          <p:nvPr/>
        </p:nvSpPr>
        <p:spPr>
          <a:xfrm>
            <a:off x="804672" y="3744468"/>
            <a:ext cx="457200" cy="457200"/>
          </a:xfrm>
          <a:prstGeom prst="ellipse">
            <a:avLst/>
          </a:prstGeom>
          <a:solidFill>
            <a:srgbClr val="1A2A52"/>
          </a:solidFill>
          <a:ln w="9525">
            <a:solidFill>
              <a:srgbClr val="22E5FF"/>
            </a:solidFill>
            <a:prstDash val="solid"/>
          </a:ln>
        </p:spPr>
      </p:sp>
      <p:pic>
        <p:nvPicPr>
          <p:cNvPr id="20" name="Image 4" descr="/home/claude/ppt/icons/facestar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4108" y="3803904"/>
            <a:ext cx="338328" cy="338328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1417320" y="3584448"/>
            <a:ext cx="3840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 Unlock</a:t>
            </a:r>
            <a:endParaRPr lang="en-US" sz="1400" dirty="0"/>
          </a:p>
        </p:txBody>
      </p:sp>
      <p:sp>
        <p:nvSpPr>
          <p:cNvPr id="22" name="Shape 15"/>
          <p:cNvSpPr/>
          <p:nvPr/>
        </p:nvSpPr>
        <p:spPr>
          <a:xfrm>
            <a:off x="6812280" y="3584448"/>
            <a:ext cx="4754880" cy="777240"/>
          </a:xfrm>
          <a:prstGeom prst="roundRect">
            <a:avLst>
              <a:gd name="adj" fmla="val 14118"/>
            </a:avLst>
          </a:prstGeom>
          <a:solidFill>
            <a:srgbClr val="0E2436"/>
          </a:solidFill>
          <a:ln w="12700">
            <a:solidFill>
              <a:srgbClr val="22E5FF"/>
            </a:solidFill>
            <a:prstDash val="solid"/>
          </a:ln>
        </p:spPr>
      </p:sp>
      <p:sp>
        <p:nvSpPr>
          <p:cNvPr id="23" name="Shape 16"/>
          <p:cNvSpPr/>
          <p:nvPr/>
        </p:nvSpPr>
        <p:spPr>
          <a:xfrm>
            <a:off x="6976872" y="3744468"/>
            <a:ext cx="457200" cy="457200"/>
          </a:xfrm>
          <a:prstGeom prst="ellipse">
            <a:avLst/>
          </a:prstGeom>
          <a:solidFill>
            <a:srgbClr val="0A3345"/>
          </a:solidFill>
          <a:ln w="12700">
            <a:solidFill>
              <a:srgbClr val="22E5FF"/>
            </a:solidFill>
            <a:prstDash val="solid"/>
          </a:ln>
        </p:spPr>
      </p:sp>
      <p:pic>
        <p:nvPicPr>
          <p:cNvPr id="24" name="Image 5" descr="/home/claude/ppt/icons/heartpuls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36308" y="3803904"/>
            <a:ext cx="338328" cy="338328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7589520" y="3584448"/>
            <a:ext cx="3840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Emotion Recognition</a:t>
            </a:r>
            <a:endParaRPr lang="en-US" sz="1400" dirty="0"/>
          </a:p>
        </p:txBody>
      </p:sp>
      <p:pic>
        <p:nvPicPr>
          <p:cNvPr id="26" name="Image 6" descr="/home/claude/ppt/icons/arrowright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413248" y="3863340"/>
            <a:ext cx="219456" cy="219456"/>
          </a:xfrm>
          <a:prstGeom prst="rect">
            <a:avLst/>
          </a:prstGeom>
        </p:spPr>
      </p:pic>
      <p:sp>
        <p:nvSpPr>
          <p:cNvPr id="27" name="Shape 18"/>
          <p:cNvSpPr/>
          <p:nvPr/>
        </p:nvSpPr>
        <p:spPr>
          <a:xfrm>
            <a:off x="640080" y="4471416"/>
            <a:ext cx="4754880" cy="777240"/>
          </a:xfrm>
          <a:prstGeom prst="roundRect">
            <a:avLst>
              <a:gd name="adj" fmla="val 14118"/>
            </a:avLst>
          </a:prstGeom>
          <a:solidFill>
            <a:srgbClr val="111C3D"/>
          </a:solidFill>
          <a:ln w="12700">
            <a:solidFill>
              <a:srgbClr val="1E2E5C"/>
            </a:solidFill>
            <a:prstDash val="solid"/>
          </a:ln>
        </p:spPr>
      </p:sp>
      <p:sp>
        <p:nvSpPr>
          <p:cNvPr id="28" name="Shape 19"/>
          <p:cNvSpPr/>
          <p:nvPr/>
        </p:nvSpPr>
        <p:spPr>
          <a:xfrm>
            <a:off x="804672" y="4631436"/>
            <a:ext cx="457200" cy="457200"/>
          </a:xfrm>
          <a:prstGeom prst="ellipse">
            <a:avLst/>
          </a:prstGeom>
          <a:solidFill>
            <a:srgbClr val="1A2A52"/>
          </a:solidFill>
          <a:ln w="9525">
            <a:solidFill>
              <a:srgbClr val="22E5FF"/>
            </a:solidFill>
            <a:prstDash val="solid"/>
          </a:ln>
        </p:spPr>
      </p:sp>
      <p:pic>
        <p:nvPicPr>
          <p:cNvPr id="29" name="Image 7" descr="/home/claude/ppt/icons/comments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64108" y="4690872"/>
            <a:ext cx="338328" cy="338328"/>
          </a:xfrm>
          <a:prstGeom prst="rect">
            <a:avLst/>
          </a:prstGeom>
        </p:spPr>
      </p:pic>
      <p:sp>
        <p:nvSpPr>
          <p:cNvPr id="30" name="Text 20"/>
          <p:cNvSpPr/>
          <p:nvPr/>
        </p:nvSpPr>
        <p:spPr>
          <a:xfrm>
            <a:off x="1417320" y="4471416"/>
            <a:ext cx="3840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Chatbots</a:t>
            </a:r>
            <a:endParaRPr lang="en-US" sz="1400" dirty="0"/>
          </a:p>
        </p:txBody>
      </p:sp>
      <p:sp>
        <p:nvSpPr>
          <p:cNvPr id="31" name="Shape 21"/>
          <p:cNvSpPr/>
          <p:nvPr/>
        </p:nvSpPr>
        <p:spPr>
          <a:xfrm>
            <a:off x="6812280" y="4471416"/>
            <a:ext cx="4754880" cy="777240"/>
          </a:xfrm>
          <a:prstGeom prst="roundRect">
            <a:avLst>
              <a:gd name="adj" fmla="val 14118"/>
            </a:avLst>
          </a:prstGeom>
          <a:solidFill>
            <a:srgbClr val="0E2436"/>
          </a:solidFill>
          <a:ln w="12700">
            <a:solidFill>
              <a:srgbClr val="22E5FF"/>
            </a:solidFill>
            <a:prstDash val="solid"/>
          </a:ln>
        </p:spPr>
      </p:sp>
      <p:sp>
        <p:nvSpPr>
          <p:cNvPr id="32" name="Shape 22"/>
          <p:cNvSpPr/>
          <p:nvPr/>
        </p:nvSpPr>
        <p:spPr>
          <a:xfrm>
            <a:off x="6976872" y="4631436"/>
            <a:ext cx="457200" cy="457200"/>
          </a:xfrm>
          <a:prstGeom prst="ellipse">
            <a:avLst/>
          </a:prstGeom>
          <a:solidFill>
            <a:srgbClr val="0A3345"/>
          </a:solidFill>
          <a:ln w="12700">
            <a:solidFill>
              <a:srgbClr val="22E5FF"/>
            </a:solidFill>
            <a:prstDash val="solid"/>
          </a:ln>
        </p:spPr>
      </p:sp>
      <p:pic>
        <p:nvPicPr>
          <p:cNvPr id="33" name="Image 8" descr="/home/claude/ppt/icons/chalkboar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036308" y="4690872"/>
            <a:ext cx="338328" cy="338328"/>
          </a:xfrm>
          <a:prstGeom prst="rect">
            <a:avLst/>
          </a:prstGeom>
        </p:spPr>
      </p:pic>
      <p:sp>
        <p:nvSpPr>
          <p:cNvPr id="34" name="Text 23"/>
          <p:cNvSpPr/>
          <p:nvPr/>
        </p:nvSpPr>
        <p:spPr>
          <a:xfrm>
            <a:off x="7589520" y="4471416"/>
            <a:ext cx="3840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Teachers</a:t>
            </a:r>
            <a:endParaRPr lang="en-US" sz="1400" dirty="0"/>
          </a:p>
        </p:txBody>
      </p:sp>
      <p:pic>
        <p:nvPicPr>
          <p:cNvPr id="35" name="Image 9" descr="/home/claude/ppt/icons/arrowright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413248" y="4750308"/>
            <a:ext cx="219456" cy="219456"/>
          </a:xfrm>
          <a:prstGeom prst="rect">
            <a:avLst/>
          </a:prstGeom>
        </p:spPr>
      </p:pic>
      <p:sp>
        <p:nvSpPr>
          <p:cNvPr id="36" name="Shape 24"/>
          <p:cNvSpPr/>
          <p:nvPr/>
        </p:nvSpPr>
        <p:spPr>
          <a:xfrm>
            <a:off x="640080" y="5358384"/>
            <a:ext cx="4754880" cy="777240"/>
          </a:xfrm>
          <a:prstGeom prst="roundRect">
            <a:avLst>
              <a:gd name="adj" fmla="val 14118"/>
            </a:avLst>
          </a:prstGeom>
          <a:solidFill>
            <a:srgbClr val="111C3D"/>
          </a:solidFill>
          <a:ln w="12700">
            <a:solidFill>
              <a:srgbClr val="1E2E5C"/>
            </a:solidFill>
            <a:prstDash val="solid"/>
          </a:ln>
        </p:spPr>
      </p:sp>
      <p:sp>
        <p:nvSpPr>
          <p:cNvPr id="37" name="Shape 25"/>
          <p:cNvSpPr/>
          <p:nvPr/>
        </p:nvSpPr>
        <p:spPr>
          <a:xfrm>
            <a:off x="804672" y="5518404"/>
            <a:ext cx="457200" cy="457200"/>
          </a:xfrm>
          <a:prstGeom prst="ellipse">
            <a:avLst/>
          </a:prstGeom>
          <a:solidFill>
            <a:srgbClr val="1A2A52"/>
          </a:solidFill>
          <a:ln w="9525">
            <a:solidFill>
              <a:srgbClr val="22E5FF"/>
            </a:solidFill>
            <a:prstDash val="solid"/>
          </a:ln>
        </p:spPr>
      </p:sp>
      <p:pic>
        <p:nvPicPr>
          <p:cNvPr id="38" name="Image 10" descr="/home/claude/ppt/icons/car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64108" y="5577840"/>
            <a:ext cx="338328" cy="338328"/>
          </a:xfrm>
          <a:prstGeom prst="rect">
            <a:avLst/>
          </a:prstGeom>
        </p:spPr>
      </p:pic>
      <p:sp>
        <p:nvSpPr>
          <p:cNvPr id="39" name="Text 26"/>
          <p:cNvSpPr/>
          <p:nvPr/>
        </p:nvSpPr>
        <p:spPr>
          <a:xfrm>
            <a:off x="1417320" y="5358384"/>
            <a:ext cx="3840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Cars</a:t>
            </a:r>
            <a:endParaRPr lang="en-US" sz="1400" dirty="0"/>
          </a:p>
        </p:txBody>
      </p:sp>
      <p:sp>
        <p:nvSpPr>
          <p:cNvPr id="40" name="Shape 27"/>
          <p:cNvSpPr/>
          <p:nvPr/>
        </p:nvSpPr>
        <p:spPr>
          <a:xfrm>
            <a:off x="6812280" y="5358384"/>
            <a:ext cx="4754880" cy="777240"/>
          </a:xfrm>
          <a:prstGeom prst="roundRect">
            <a:avLst>
              <a:gd name="adj" fmla="val 14118"/>
            </a:avLst>
          </a:prstGeom>
          <a:solidFill>
            <a:srgbClr val="0E2436"/>
          </a:solidFill>
          <a:ln w="12700">
            <a:solidFill>
              <a:srgbClr val="22E5FF"/>
            </a:solidFill>
            <a:prstDash val="solid"/>
          </a:ln>
        </p:spPr>
      </p:sp>
      <p:sp>
        <p:nvSpPr>
          <p:cNvPr id="41" name="Shape 28"/>
          <p:cNvSpPr/>
          <p:nvPr/>
        </p:nvSpPr>
        <p:spPr>
          <a:xfrm>
            <a:off x="6976872" y="5518404"/>
            <a:ext cx="457200" cy="457200"/>
          </a:xfrm>
          <a:prstGeom prst="ellipse">
            <a:avLst/>
          </a:prstGeom>
          <a:solidFill>
            <a:srgbClr val="0A3345"/>
          </a:solidFill>
          <a:ln w="12700">
            <a:solidFill>
              <a:srgbClr val="22E5FF"/>
            </a:solidFill>
            <a:prstDash val="solid"/>
          </a:ln>
        </p:spPr>
      </p:sp>
      <p:pic>
        <p:nvPicPr>
          <p:cNvPr id="42" name="Image 11" descr="/home/claude/ppt/icons/city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036308" y="5577840"/>
            <a:ext cx="338328" cy="338328"/>
          </a:xfrm>
          <a:prstGeom prst="rect">
            <a:avLst/>
          </a:prstGeom>
        </p:spPr>
      </p:pic>
      <p:sp>
        <p:nvSpPr>
          <p:cNvPr id="43" name="Text 29"/>
          <p:cNvSpPr/>
          <p:nvPr/>
        </p:nvSpPr>
        <p:spPr>
          <a:xfrm>
            <a:off x="7589520" y="5358384"/>
            <a:ext cx="3840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Autonomous Cities</a:t>
            </a:r>
            <a:endParaRPr lang="en-US" sz="1400" dirty="0"/>
          </a:p>
        </p:txBody>
      </p:sp>
      <p:pic>
        <p:nvPicPr>
          <p:cNvPr id="44" name="Image 12" descr="/home/claude/ppt/icons/arrowright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413248" y="5637276"/>
            <a:ext cx="219456" cy="219456"/>
          </a:xfrm>
          <a:prstGeom prst="rect">
            <a:avLst/>
          </a:prstGeom>
        </p:spPr>
      </p:pic>
      <p:sp>
        <p:nvSpPr>
          <p:cNvPr id="45" name="Text 30"/>
          <p:cNvSpPr/>
          <p:nvPr/>
        </p:nvSpPr>
        <p:spPr>
          <a:xfrm>
            <a:off x="640080" y="6336792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93A5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is evolving from helping us to working alongside us.</a:t>
            </a:r>
            <a:endParaRPr lang="en-US" sz="1500" dirty="0"/>
          </a:p>
        </p:txBody>
      </p:sp>
      <p:sp>
        <p:nvSpPr>
          <p:cNvPr id="46" name="Text 31"/>
          <p:cNvSpPr/>
          <p:nvPr/>
        </p:nvSpPr>
        <p:spPr>
          <a:xfrm>
            <a:off x="10911535" y="640080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3A5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/ 12</a:t>
            </a:r>
            <a:endParaRPr lang="en-US" sz="1000" dirty="0"/>
          </a:p>
        </p:txBody>
      </p:sp>
      <p:sp>
        <p:nvSpPr>
          <p:cNvPr id="47" name="Text 3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200" kern="0" dirty="0">
                <a:solidFill>
                  <a:srgbClr val="93A5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FUTURE OF AI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507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ppt/assets/bg_network.png">    </p:cNvPr>
          <p:cNvPicPr>
            <a:picLocks noChangeAspect="1"/>
          </p:cNvPicPr>
          <p:nvPr/>
        </p:nvPicPr>
        <p:blipFill>
          <a:blip r:embed="rId1">
            <a:alphaModFix amt="22000"/>
          </a:blip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5029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22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01 — HEALTHCARE</a:t>
            </a:r>
            <a:endParaRPr lang="en-US" sz="1300" dirty="0"/>
          </a:p>
        </p:txBody>
      </p:sp>
      <p:sp>
        <p:nvSpPr>
          <p:cNvPr id="4" name="Text 1"/>
          <p:cNvSpPr/>
          <p:nvPr/>
        </p:nvSpPr>
        <p:spPr>
          <a:xfrm>
            <a:off x="640080" y="868680"/>
            <a:ext cx="7315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36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of AI in</a:t>
            </a:r>
            <a:endParaRPr lang="en-US" sz="3200" dirty="0"/>
          </a:p>
          <a:p>
            <a:pPr indent="0" marL="0">
              <a:lnSpc>
                <a:spcPts val="336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Healthcare</a:t>
            </a:r>
            <a:endParaRPr lang="en-US" sz="3200" dirty="0"/>
          </a:p>
        </p:txBody>
      </p:sp>
      <p:sp>
        <p:nvSpPr>
          <p:cNvPr id="5" name="Shape 2"/>
          <p:cNvSpPr/>
          <p:nvPr/>
        </p:nvSpPr>
        <p:spPr>
          <a:xfrm>
            <a:off x="640080" y="2240280"/>
            <a:ext cx="438912" cy="438912"/>
          </a:xfrm>
          <a:prstGeom prst="ellipse">
            <a:avLst/>
          </a:prstGeom>
          <a:solidFill>
            <a:srgbClr val="111C3D"/>
          </a:solidFill>
          <a:ln w="12700">
            <a:solidFill>
              <a:srgbClr val="22E5FF"/>
            </a:solidFill>
            <a:prstDash val="solid"/>
          </a:ln>
        </p:spPr>
      </p:sp>
      <p:pic>
        <p:nvPicPr>
          <p:cNvPr id="6" name="Image 1" descr="/home/claude/ppt/icons/stethoscop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7139" y="2297339"/>
            <a:ext cx="324795" cy="324795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207008" y="2240280"/>
            <a:ext cx="4480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disease prediction</a:t>
            </a:r>
            <a:endParaRPr lang="en-US" sz="1400" dirty="0"/>
          </a:p>
        </p:txBody>
      </p:sp>
      <p:sp>
        <p:nvSpPr>
          <p:cNvPr id="8" name="Shape 4"/>
          <p:cNvSpPr/>
          <p:nvPr/>
        </p:nvSpPr>
        <p:spPr>
          <a:xfrm>
            <a:off x="640080" y="2807208"/>
            <a:ext cx="438912" cy="438912"/>
          </a:xfrm>
          <a:prstGeom prst="ellipse">
            <a:avLst/>
          </a:prstGeom>
          <a:solidFill>
            <a:srgbClr val="111C3D"/>
          </a:solidFill>
          <a:ln w="12700">
            <a:solidFill>
              <a:srgbClr val="22E5FF"/>
            </a:solidFill>
            <a:prstDash val="solid"/>
          </a:ln>
        </p:spPr>
      </p:sp>
      <p:pic>
        <p:nvPicPr>
          <p:cNvPr id="9" name="Image 2" descr="/home/claude/ppt/icons/userdocto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7139" y="2864267"/>
            <a:ext cx="324795" cy="324795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207008" y="2807208"/>
            <a:ext cx="4480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AI-assisted surgeries</a:t>
            </a:r>
            <a:endParaRPr lang="en-US" sz="1400" dirty="0"/>
          </a:p>
        </p:txBody>
      </p:sp>
      <p:sp>
        <p:nvSpPr>
          <p:cNvPr id="11" name="Shape 6"/>
          <p:cNvSpPr/>
          <p:nvPr/>
        </p:nvSpPr>
        <p:spPr>
          <a:xfrm>
            <a:off x="640080" y="3374136"/>
            <a:ext cx="438912" cy="438912"/>
          </a:xfrm>
          <a:prstGeom prst="ellipse">
            <a:avLst/>
          </a:prstGeom>
          <a:solidFill>
            <a:srgbClr val="111C3D"/>
          </a:solidFill>
          <a:ln w="12700">
            <a:solidFill>
              <a:srgbClr val="22E5FF"/>
            </a:solidFill>
            <a:prstDash val="solid"/>
          </a:ln>
        </p:spPr>
      </p:sp>
      <p:pic>
        <p:nvPicPr>
          <p:cNvPr id="12" name="Image 3" descr="/home/claude/ppt/icons/pills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7139" y="3431195"/>
            <a:ext cx="324795" cy="324795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1207008" y="3374136"/>
            <a:ext cx="4480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Personalized medicines</a:t>
            </a:r>
            <a:endParaRPr lang="en-US" sz="1400" dirty="0"/>
          </a:p>
        </p:txBody>
      </p:sp>
      <p:sp>
        <p:nvSpPr>
          <p:cNvPr id="14" name="Shape 8"/>
          <p:cNvSpPr/>
          <p:nvPr/>
        </p:nvSpPr>
        <p:spPr>
          <a:xfrm>
            <a:off x="640080" y="3941064"/>
            <a:ext cx="438912" cy="438912"/>
          </a:xfrm>
          <a:prstGeom prst="ellipse">
            <a:avLst/>
          </a:prstGeom>
          <a:solidFill>
            <a:srgbClr val="111C3D"/>
          </a:solidFill>
          <a:ln w="12700">
            <a:solidFill>
              <a:srgbClr val="22E5FF"/>
            </a:solidFill>
            <a:prstDash val="solid"/>
          </a:ln>
        </p:spPr>
      </p:sp>
      <p:pic>
        <p:nvPicPr>
          <p:cNvPr id="15" name="Image 4" descr="/home/claude/ppt/icons/heartpuls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7139" y="3998123"/>
            <a:ext cx="324795" cy="324795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1207008" y="3941064"/>
            <a:ext cx="4480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health monitoring</a:t>
            </a:r>
            <a:endParaRPr lang="en-US" sz="1400" dirty="0"/>
          </a:p>
        </p:txBody>
      </p:sp>
      <p:sp>
        <p:nvSpPr>
          <p:cNvPr id="17" name="Shape 10"/>
          <p:cNvSpPr/>
          <p:nvPr/>
        </p:nvSpPr>
        <p:spPr>
          <a:xfrm>
            <a:off x="640080" y="4507992"/>
            <a:ext cx="438912" cy="438912"/>
          </a:xfrm>
          <a:prstGeom prst="ellipse">
            <a:avLst/>
          </a:prstGeom>
          <a:solidFill>
            <a:srgbClr val="111C3D"/>
          </a:solidFill>
          <a:ln w="12700">
            <a:solidFill>
              <a:srgbClr val="22E5FF"/>
            </a:solidFill>
            <a:prstDash val="solid"/>
          </a:ln>
        </p:spPr>
      </p:sp>
      <p:pic>
        <p:nvPicPr>
          <p:cNvPr id="18" name="Image 5" descr="/home/claude/ppt/icons/robot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7139" y="4565051"/>
            <a:ext cx="324795" cy="324795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1207008" y="4507992"/>
            <a:ext cx="4480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Robotic nurses</a:t>
            </a:r>
            <a:endParaRPr lang="en-US" sz="1400" dirty="0"/>
          </a:p>
        </p:txBody>
      </p:sp>
      <p:sp>
        <p:nvSpPr>
          <p:cNvPr id="20" name="Shape 12"/>
          <p:cNvSpPr/>
          <p:nvPr/>
        </p:nvSpPr>
        <p:spPr>
          <a:xfrm>
            <a:off x="640080" y="5257800"/>
            <a:ext cx="5349240" cy="960120"/>
          </a:xfrm>
          <a:prstGeom prst="roundRect">
            <a:avLst>
              <a:gd name="adj" fmla="val 11429"/>
            </a:avLst>
          </a:prstGeom>
          <a:solidFill>
            <a:srgbClr val="0C2436"/>
          </a:solidFill>
          <a:ln w="12700">
            <a:solidFill>
              <a:srgbClr val="0FA8C4"/>
            </a:solidFill>
            <a:prstDash val="solid"/>
          </a:ln>
        </p:spPr>
      </p:sp>
      <p:sp>
        <p:nvSpPr>
          <p:cNvPr id="21" name="Text 13"/>
          <p:cNvSpPr/>
          <p:nvPr/>
        </p:nvSpPr>
        <p:spPr>
          <a:xfrm>
            <a:off x="868680" y="5385816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2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</a:t>
            </a:r>
            <a:endParaRPr lang="en-US" sz="1000" dirty="0"/>
          </a:p>
        </p:txBody>
      </p:sp>
      <p:sp>
        <p:nvSpPr>
          <p:cNvPr id="22" name="Text 14"/>
          <p:cNvSpPr/>
          <p:nvPr/>
        </p:nvSpPr>
        <p:spPr>
          <a:xfrm>
            <a:off x="868680" y="5623560"/>
            <a:ext cx="4892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93A5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may detect diseases like cancer at very early stages, helping doctors begin treatment sooner.</a:t>
            </a:r>
            <a:endParaRPr lang="en-US" sz="1150" dirty="0"/>
          </a:p>
        </p:txBody>
      </p:sp>
      <p:sp>
        <p:nvSpPr>
          <p:cNvPr id="23" name="Shape 15"/>
          <p:cNvSpPr/>
          <p:nvPr/>
        </p:nvSpPr>
        <p:spPr>
          <a:xfrm>
            <a:off x="6400800" y="1371600"/>
            <a:ext cx="5212080" cy="5212080"/>
          </a:xfrm>
          <a:prstGeom prst="roundRect">
            <a:avLst>
              <a:gd name="adj" fmla="val 2632"/>
            </a:avLst>
          </a:prstGeom>
          <a:solidFill>
            <a:srgbClr val="111C3D"/>
          </a:solidFill>
          <a:ln w="19050">
            <a:solidFill>
              <a:srgbClr val="22E5FF"/>
            </a:solidFill>
            <a:prstDash val="solid"/>
          </a:ln>
          <a:effectLst>
            <a:outerShdw sx="100000" sy="100000" kx="0" ky="0" algn="bl" rotWithShape="0" blurRad="254000" dist="50800" dir="16200000">
              <a:srgbClr val="00D9FF">
                <a:alpha val="35000"/>
              </a:srgbClr>
            </a:outerShdw>
          </a:effectLst>
        </p:spPr>
      </p:sp>
      <p:pic>
        <p:nvPicPr>
          <p:cNvPr id="24" name="Image 6" descr="/home/claude/ppt/assets/1786091034138_image.png">    </p:cNvPr>
          <p:cNvPicPr>
            <a:picLocks noChangeAspect="1"/>
          </p:cNvPicPr>
          <p:nvPr/>
        </p:nvPicPr>
        <p:blipFill>
          <a:blip r:embed="rId7"/>
          <a:srcRect l="0" r="0" t="0" b="0"/>
          <a:stretch/>
        </p:blipFill>
        <p:spPr>
          <a:xfrm>
            <a:off x="6537960" y="1508760"/>
            <a:ext cx="4937760" cy="4937760"/>
          </a:xfrm>
          <a:prstGeom prst="rect">
            <a:avLst/>
          </a:prstGeom>
        </p:spPr>
      </p:pic>
      <p:sp>
        <p:nvSpPr>
          <p:cNvPr id="25" name="Text 16"/>
          <p:cNvSpPr/>
          <p:nvPr/>
        </p:nvSpPr>
        <p:spPr>
          <a:xfrm>
            <a:off x="10911535" y="640080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3A5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/ 12</a:t>
            </a:r>
            <a:endParaRPr lang="en-US" sz="1000" dirty="0"/>
          </a:p>
        </p:txBody>
      </p:sp>
      <p:sp>
        <p:nvSpPr>
          <p:cNvPr id="26" name="Text 1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200" kern="0" dirty="0">
                <a:solidFill>
                  <a:srgbClr val="93A5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FUTURE OF AI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507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ppt/assets/bg_network.png">    </p:cNvPr>
          <p:cNvPicPr>
            <a:picLocks noChangeAspect="1"/>
          </p:cNvPicPr>
          <p:nvPr/>
        </p:nvPicPr>
        <p:blipFill>
          <a:blip r:embed="rId1">
            <a:alphaModFix amt="22000"/>
          </a:blip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5029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22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02 — EDUCATION</a:t>
            </a:r>
            <a:endParaRPr lang="en-US" sz="1300" dirty="0"/>
          </a:p>
        </p:txBody>
      </p:sp>
      <p:sp>
        <p:nvSpPr>
          <p:cNvPr id="4" name="Text 1"/>
          <p:cNvSpPr/>
          <p:nvPr/>
        </p:nvSpPr>
        <p:spPr>
          <a:xfrm>
            <a:off x="640080" y="868680"/>
            <a:ext cx="7315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36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of AI in</a:t>
            </a:r>
            <a:endParaRPr lang="en-US" sz="3200" dirty="0"/>
          </a:p>
          <a:p>
            <a:pPr indent="0" marL="0">
              <a:lnSpc>
                <a:spcPts val="336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Education</a:t>
            </a:r>
            <a:endParaRPr lang="en-US" sz="3200" dirty="0"/>
          </a:p>
        </p:txBody>
      </p:sp>
      <p:sp>
        <p:nvSpPr>
          <p:cNvPr id="5" name="Shape 2"/>
          <p:cNvSpPr/>
          <p:nvPr/>
        </p:nvSpPr>
        <p:spPr>
          <a:xfrm>
            <a:off x="640080" y="2423160"/>
            <a:ext cx="457200" cy="457200"/>
          </a:xfrm>
          <a:prstGeom prst="ellipse">
            <a:avLst/>
          </a:prstGeom>
          <a:solidFill>
            <a:srgbClr val="111C3D"/>
          </a:solidFill>
          <a:ln w="12700">
            <a:solidFill>
              <a:srgbClr val="22E5FF"/>
            </a:solidFill>
            <a:prstDash val="solid"/>
          </a:ln>
        </p:spPr>
      </p:sp>
      <p:pic>
        <p:nvPicPr>
          <p:cNvPr id="6" name="Image 1" descr="/home/claude/ppt/icons/chalkboar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9516" y="2482596"/>
            <a:ext cx="338328" cy="33832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234440" y="242316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tutors</a:t>
            </a:r>
            <a:endParaRPr lang="en-US" sz="1450" dirty="0"/>
          </a:p>
        </p:txBody>
      </p:sp>
      <p:sp>
        <p:nvSpPr>
          <p:cNvPr id="8" name="Shape 4"/>
          <p:cNvSpPr/>
          <p:nvPr/>
        </p:nvSpPr>
        <p:spPr>
          <a:xfrm>
            <a:off x="640080" y="3081528"/>
            <a:ext cx="457200" cy="457200"/>
          </a:xfrm>
          <a:prstGeom prst="ellipse">
            <a:avLst/>
          </a:prstGeom>
          <a:solidFill>
            <a:srgbClr val="111C3D"/>
          </a:solidFill>
          <a:ln w="12700">
            <a:solidFill>
              <a:srgbClr val="22E5FF"/>
            </a:solidFill>
            <a:prstDash val="solid"/>
          </a:ln>
        </p:spPr>
      </p:sp>
      <p:pic>
        <p:nvPicPr>
          <p:cNvPr id="9" name="Image 2" descr="/home/claude/ppt/icons/usergradua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9516" y="3140964"/>
            <a:ext cx="338328" cy="338328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234440" y="3081528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Personalized learning</a:t>
            </a:r>
            <a:endParaRPr lang="en-US" sz="1450" dirty="0"/>
          </a:p>
        </p:txBody>
      </p:sp>
      <p:sp>
        <p:nvSpPr>
          <p:cNvPr id="11" name="Shape 6"/>
          <p:cNvSpPr/>
          <p:nvPr/>
        </p:nvSpPr>
        <p:spPr>
          <a:xfrm>
            <a:off x="640080" y="3739896"/>
            <a:ext cx="457200" cy="457200"/>
          </a:xfrm>
          <a:prstGeom prst="ellipse">
            <a:avLst/>
          </a:prstGeom>
          <a:solidFill>
            <a:srgbClr val="111C3D"/>
          </a:solidFill>
          <a:ln w="12700">
            <a:solidFill>
              <a:srgbClr val="22E5FF"/>
            </a:solidFill>
            <a:prstDash val="solid"/>
          </a:ln>
        </p:spPr>
      </p:sp>
      <p:pic>
        <p:nvPicPr>
          <p:cNvPr id="12" name="Image 3" descr="/home/claude/ppt/icons/clipboar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9516" y="3799332"/>
            <a:ext cx="338328" cy="338328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1234440" y="3739896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 grading</a:t>
            </a:r>
            <a:endParaRPr lang="en-US" sz="1450" dirty="0"/>
          </a:p>
        </p:txBody>
      </p:sp>
      <p:sp>
        <p:nvSpPr>
          <p:cNvPr id="14" name="Shape 8"/>
          <p:cNvSpPr/>
          <p:nvPr/>
        </p:nvSpPr>
        <p:spPr>
          <a:xfrm>
            <a:off x="640080" y="4398264"/>
            <a:ext cx="457200" cy="457200"/>
          </a:xfrm>
          <a:prstGeom prst="ellipse">
            <a:avLst/>
          </a:prstGeom>
          <a:solidFill>
            <a:srgbClr val="111C3D"/>
          </a:solidFill>
          <a:ln w="12700">
            <a:solidFill>
              <a:srgbClr val="22E5FF"/>
            </a:solidFill>
            <a:prstDash val="solid"/>
          </a:ln>
        </p:spPr>
      </p:sp>
      <p:pic>
        <p:nvPicPr>
          <p:cNvPr id="15" name="Image 4" descr="/home/claude/ppt/icons/laptop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9516" y="4457700"/>
            <a:ext cx="338328" cy="338328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1234440" y="4398264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 classrooms</a:t>
            </a:r>
            <a:endParaRPr lang="en-US" sz="1450" dirty="0"/>
          </a:p>
        </p:txBody>
      </p:sp>
      <p:sp>
        <p:nvSpPr>
          <p:cNvPr id="17" name="Shape 10"/>
          <p:cNvSpPr/>
          <p:nvPr/>
        </p:nvSpPr>
        <p:spPr>
          <a:xfrm>
            <a:off x="640080" y="5056632"/>
            <a:ext cx="457200" cy="457200"/>
          </a:xfrm>
          <a:prstGeom prst="ellipse">
            <a:avLst/>
          </a:prstGeom>
          <a:solidFill>
            <a:srgbClr val="111C3D"/>
          </a:solidFill>
          <a:ln w="12700">
            <a:solidFill>
              <a:srgbClr val="22E5FF"/>
            </a:solidFill>
            <a:prstDash val="solid"/>
          </a:ln>
        </p:spPr>
      </p:sp>
      <p:pic>
        <p:nvPicPr>
          <p:cNvPr id="18" name="Image 5" descr="/home/claude/ppt/icons/languag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9516" y="5116068"/>
            <a:ext cx="338328" cy="338328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1234440" y="5056632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in any language</a:t>
            </a:r>
            <a:endParaRPr lang="en-US" sz="1450" dirty="0"/>
          </a:p>
        </p:txBody>
      </p:sp>
      <p:sp>
        <p:nvSpPr>
          <p:cNvPr id="20" name="Shape 12"/>
          <p:cNvSpPr/>
          <p:nvPr/>
        </p:nvSpPr>
        <p:spPr>
          <a:xfrm>
            <a:off x="6309360" y="1371600"/>
            <a:ext cx="5303520" cy="5303520"/>
          </a:xfrm>
          <a:prstGeom prst="roundRect">
            <a:avLst>
              <a:gd name="adj" fmla="val 2586"/>
            </a:avLst>
          </a:prstGeom>
          <a:solidFill>
            <a:srgbClr val="111C3D"/>
          </a:solidFill>
          <a:ln w="19050">
            <a:solidFill>
              <a:srgbClr val="22E5FF"/>
            </a:solidFill>
            <a:prstDash val="solid"/>
          </a:ln>
          <a:effectLst>
            <a:outerShdw sx="100000" sy="100000" kx="0" ky="0" algn="bl" rotWithShape="0" blurRad="254000" dist="50800" dir="16200000">
              <a:srgbClr val="00D9FF">
                <a:alpha val="35000"/>
              </a:srgbClr>
            </a:outerShdw>
          </a:effectLst>
        </p:spPr>
      </p:sp>
      <p:pic>
        <p:nvPicPr>
          <p:cNvPr id="21" name="Image 6" descr="/home/claude/ppt/assets/1786091102609_image.png">    </p:cNvPr>
          <p:cNvPicPr>
            <a:picLocks noChangeAspect="1"/>
          </p:cNvPicPr>
          <p:nvPr/>
        </p:nvPicPr>
        <p:blipFill>
          <a:blip r:embed="rId7"/>
          <a:srcRect l="0" r="0" t="0" b="0"/>
          <a:stretch/>
        </p:blipFill>
        <p:spPr>
          <a:xfrm>
            <a:off x="6446520" y="1508760"/>
            <a:ext cx="5029200" cy="5029200"/>
          </a:xfrm>
          <a:prstGeom prst="rect">
            <a:avLst/>
          </a:prstGeom>
        </p:spPr>
      </p:pic>
      <p:sp>
        <p:nvSpPr>
          <p:cNvPr id="22" name="Text 13"/>
          <p:cNvSpPr/>
          <p:nvPr/>
        </p:nvSpPr>
        <p:spPr>
          <a:xfrm>
            <a:off x="10911535" y="640080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3A5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/ 12</a:t>
            </a:r>
            <a:endParaRPr lang="en-US" sz="1000" dirty="0"/>
          </a:p>
        </p:txBody>
      </p:sp>
      <p:sp>
        <p:nvSpPr>
          <p:cNvPr id="23" name="Text 1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200" kern="0" dirty="0">
                <a:solidFill>
                  <a:srgbClr val="93A5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FUTURE OF AI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507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ppt/assets/bg_network.png">    </p:cNvPr>
          <p:cNvPicPr>
            <a:picLocks noChangeAspect="1"/>
          </p:cNvPicPr>
          <p:nvPr/>
        </p:nvPicPr>
        <p:blipFill>
          <a:blip r:embed="rId1">
            <a:alphaModFix amt="22000"/>
          </a:blip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5029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22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03 — URBAN LIFE</a:t>
            </a:r>
            <a:endParaRPr lang="en-US" sz="1300" dirty="0"/>
          </a:p>
        </p:txBody>
      </p:sp>
      <p:sp>
        <p:nvSpPr>
          <p:cNvPr id="4" name="Text 1"/>
          <p:cNvSpPr/>
          <p:nvPr/>
        </p:nvSpPr>
        <p:spPr>
          <a:xfrm>
            <a:off x="640080" y="86868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36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Smart Cities</a:t>
            </a:r>
            <a:endParaRPr lang="en-US" sz="3200" dirty="0"/>
          </a:p>
        </p:txBody>
      </p:sp>
      <p:sp>
        <p:nvSpPr>
          <p:cNvPr id="5" name="Text 2"/>
          <p:cNvSpPr/>
          <p:nvPr/>
        </p:nvSpPr>
        <p:spPr>
          <a:xfrm>
            <a:off x="640080" y="1536192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3A5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infrastructure reshaping how cities move, breathe, and grow.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640080" y="2103120"/>
            <a:ext cx="3474720" cy="1600200"/>
          </a:xfrm>
          <a:prstGeom prst="roundRect">
            <a:avLst>
              <a:gd name="adj" fmla="val 6857"/>
            </a:avLst>
          </a:prstGeom>
          <a:solidFill>
            <a:srgbClr val="111C3D"/>
          </a:solidFill>
          <a:ln w="12700">
            <a:solidFill>
              <a:srgbClr val="1E2E5C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68680" y="2331720"/>
            <a:ext cx="548640" cy="548640"/>
          </a:xfrm>
          <a:prstGeom prst="ellipse">
            <a:avLst/>
          </a:prstGeom>
          <a:solidFill>
            <a:srgbClr val="15234A"/>
          </a:solidFill>
          <a:ln w="12700">
            <a:solidFill>
              <a:srgbClr val="22E5FF"/>
            </a:solidFill>
            <a:prstDash val="solid"/>
          </a:ln>
        </p:spPr>
      </p:sp>
      <p:pic>
        <p:nvPicPr>
          <p:cNvPr id="8" name="Image 1" descr="/home/claude/ppt/icons/ca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0003" y="2403043"/>
            <a:ext cx="405994" cy="405994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868680" y="2999232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Self-driving vehicles</a:t>
            </a:r>
            <a:endParaRPr lang="en-US" sz="1300" dirty="0"/>
          </a:p>
        </p:txBody>
      </p:sp>
      <p:sp>
        <p:nvSpPr>
          <p:cNvPr id="10" name="Text 6"/>
          <p:cNvSpPr/>
          <p:nvPr/>
        </p:nvSpPr>
        <p:spPr>
          <a:xfrm>
            <a:off x="868680" y="3291840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93A5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 transport reduces accidents and congestion.</a:t>
            </a:r>
            <a:endParaRPr lang="en-US" sz="950" dirty="0"/>
          </a:p>
        </p:txBody>
      </p:sp>
      <p:sp>
        <p:nvSpPr>
          <p:cNvPr id="11" name="Shape 7"/>
          <p:cNvSpPr/>
          <p:nvPr/>
        </p:nvSpPr>
        <p:spPr>
          <a:xfrm>
            <a:off x="4389120" y="2103120"/>
            <a:ext cx="3474720" cy="1600200"/>
          </a:xfrm>
          <a:prstGeom prst="roundRect">
            <a:avLst>
              <a:gd name="adj" fmla="val 6857"/>
            </a:avLst>
          </a:prstGeom>
          <a:solidFill>
            <a:srgbClr val="111C3D"/>
          </a:solidFill>
          <a:ln w="12700">
            <a:solidFill>
              <a:srgbClr val="1E2E5C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4617720" y="2331720"/>
            <a:ext cx="548640" cy="548640"/>
          </a:xfrm>
          <a:prstGeom prst="ellipse">
            <a:avLst/>
          </a:prstGeom>
          <a:solidFill>
            <a:srgbClr val="15234A"/>
          </a:solidFill>
          <a:ln w="12700">
            <a:solidFill>
              <a:srgbClr val="22E5FF"/>
            </a:solidFill>
            <a:prstDash val="solid"/>
          </a:ln>
        </p:spPr>
      </p:sp>
      <p:pic>
        <p:nvPicPr>
          <p:cNvPr id="13" name="Image 2" descr="/home/claude/ppt/icons/traffic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89043" y="2403043"/>
            <a:ext cx="405994" cy="405994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617720" y="2999232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traffic signals</a:t>
            </a:r>
            <a:endParaRPr lang="en-US" sz="1300" dirty="0"/>
          </a:p>
        </p:txBody>
      </p:sp>
      <p:sp>
        <p:nvSpPr>
          <p:cNvPr id="15" name="Text 10"/>
          <p:cNvSpPr/>
          <p:nvPr/>
        </p:nvSpPr>
        <p:spPr>
          <a:xfrm>
            <a:off x="4617720" y="3291840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93A5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AI-timed signals cut wait times and emissions.</a:t>
            </a:r>
            <a:endParaRPr lang="en-US" sz="950" dirty="0"/>
          </a:p>
        </p:txBody>
      </p:sp>
      <p:sp>
        <p:nvSpPr>
          <p:cNvPr id="16" name="Shape 11"/>
          <p:cNvSpPr/>
          <p:nvPr/>
        </p:nvSpPr>
        <p:spPr>
          <a:xfrm>
            <a:off x="8138160" y="2103120"/>
            <a:ext cx="3474720" cy="1600200"/>
          </a:xfrm>
          <a:prstGeom prst="roundRect">
            <a:avLst>
              <a:gd name="adj" fmla="val 6857"/>
            </a:avLst>
          </a:prstGeom>
          <a:solidFill>
            <a:srgbClr val="111C3D"/>
          </a:solidFill>
          <a:ln w="12700">
            <a:solidFill>
              <a:srgbClr val="1E2E5C"/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>
            <a:off x="8366760" y="2331720"/>
            <a:ext cx="548640" cy="548640"/>
          </a:xfrm>
          <a:prstGeom prst="ellipse">
            <a:avLst/>
          </a:prstGeom>
          <a:solidFill>
            <a:srgbClr val="15234A"/>
          </a:solidFill>
          <a:ln w="12700">
            <a:solidFill>
              <a:srgbClr val="22E5FF"/>
            </a:solidFill>
            <a:prstDash val="solid"/>
          </a:ln>
        </p:spPr>
      </p:sp>
      <p:pic>
        <p:nvPicPr>
          <p:cNvPr id="18" name="Image 3" descr="/home/claude/ppt/icons/building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38083" y="2403043"/>
            <a:ext cx="405994" cy="405994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8366760" y="2999232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Energy-efficient buildings</a:t>
            </a:r>
            <a:endParaRPr lang="en-US" sz="1300" dirty="0"/>
          </a:p>
        </p:txBody>
      </p:sp>
      <p:sp>
        <p:nvSpPr>
          <p:cNvPr id="20" name="Text 14"/>
          <p:cNvSpPr/>
          <p:nvPr/>
        </p:nvSpPr>
        <p:spPr>
          <a:xfrm>
            <a:off x="8366760" y="3291840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93A5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grids optimize power use in real time.</a:t>
            </a:r>
            <a:endParaRPr lang="en-US" sz="950" dirty="0"/>
          </a:p>
        </p:txBody>
      </p:sp>
      <p:sp>
        <p:nvSpPr>
          <p:cNvPr id="21" name="Shape 15"/>
          <p:cNvSpPr/>
          <p:nvPr/>
        </p:nvSpPr>
        <p:spPr>
          <a:xfrm>
            <a:off x="640080" y="3977640"/>
            <a:ext cx="3474720" cy="1600200"/>
          </a:xfrm>
          <a:prstGeom prst="roundRect">
            <a:avLst>
              <a:gd name="adj" fmla="val 6857"/>
            </a:avLst>
          </a:prstGeom>
          <a:solidFill>
            <a:srgbClr val="111C3D"/>
          </a:solidFill>
          <a:ln w="12700">
            <a:solidFill>
              <a:srgbClr val="1E2E5C"/>
            </a:solidFill>
            <a:prstDash val="solid"/>
          </a:ln>
        </p:spPr>
      </p:sp>
      <p:sp>
        <p:nvSpPr>
          <p:cNvPr id="22" name="Shape 16"/>
          <p:cNvSpPr/>
          <p:nvPr/>
        </p:nvSpPr>
        <p:spPr>
          <a:xfrm>
            <a:off x="868680" y="4206240"/>
            <a:ext cx="548640" cy="548640"/>
          </a:xfrm>
          <a:prstGeom prst="ellipse">
            <a:avLst/>
          </a:prstGeom>
          <a:solidFill>
            <a:srgbClr val="15234A"/>
          </a:solidFill>
          <a:ln w="12700">
            <a:solidFill>
              <a:srgbClr val="22E5FF"/>
            </a:solidFill>
            <a:prstDash val="solid"/>
          </a:ln>
        </p:spPr>
      </p:sp>
      <p:pic>
        <p:nvPicPr>
          <p:cNvPr id="23" name="Image 4" descr="/home/claude/ppt/icons/recycl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0003" y="4277563"/>
            <a:ext cx="405994" cy="405994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868680" y="4873752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waste management</a:t>
            </a:r>
            <a:endParaRPr lang="en-US" sz="1300" dirty="0"/>
          </a:p>
        </p:txBody>
      </p:sp>
      <p:sp>
        <p:nvSpPr>
          <p:cNvPr id="25" name="Text 18"/>
          <p:cNvSpPr/>
          <p:nvPr/>
        </p:nvSpPr>
        <p:spPr>
          <a:xfrm>
            <a:off x="868680" y="5166360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93A5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Sensors route collection only when needed.</a:t>
            </a:r>
            <a:endParaRPr lang="en-US" sz="950" dirty="0"/>
          </a:p>
        </p:txBody>
      </p:sp>
      <p:sp>
        <p:nvSpPr>
          <p:cNvPr id="26" name="Shape 19"/>
          <p:cNvSpPr/>
          <p:nvPr/>
        </p:nvSpPr>
        <p:spPr>
          <a:xfrm>
            <a:off x="4389120" y="3977640"/>
            <a:ext cx="3474720" cy="1600200"/>
          </a:xfrm>
          <a:prstGeom prst="roundRect">
            <a:avLst>
              <a:gd name="adj" fmla="val 6857"/>
            </a:avLst>
          </a:prstGeom>
          <a:solidFill>
            <a:srgbClr val="111C3D"/>
          </a:solidFill>
          <a:ln w="12700">
            <a:solidFill>
              <a:srgbClr val="1E2E5C"/>
            </a:solidFill>
            <a:prstDash val="solid"/>
          </a:ln>
        </p:spPr>
      </p:sp>
      <p:sp>
        <p:nvSpPr>
          <p:cNvPr id="27" name="Shape 20"/>
          <p:cNvSpPr/>
          <p:nvPr/>
        </p:nvSpPr>
        <p:spPr>
          <a:xfrm>
            <a:off x="4617720" y="4206240"/>
            <a:ext cx="548640" cy="548640"/>
          </a:xfrm>
          <a:prstGeom prst="ellipse">
            <a:avLst/>
          </a:prstGeom>
          <a:solidFill>
            <a:srgbClr val="15234A"/>
          </a:solidFill>
          <a:ln w="12700">
            <a:solidFill>
              <a:srgbClr val="22E5FF"/>
            </a:solidFill>
            <a:prstDash val="solid"/>
          </a:ln>
        </p:spPr>
      </p:sp>
      <p:pic>
        <p:nvPicPr>
          <p:cNvPr id="28" name="Image 5" descr="/home/claude/ppt/icons/shiel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89043" y="4277563"/>
            <a:ext cx="405994" cy="405994"/>
          </a:xfrm>
          <a:prstGeom prst="rect">
            <a:avLst/>
          </a:prstGeom>
        </p:spPr>
      </p:pic>
      <p:sp>
        <p:nvSpPr>
          <p:cNvPr id="29" name="Text 21"/>
          <p:cNvSpPr/>
          <p:nvPr/>
        </p:nvSpPr>
        <p:spPr>
          <a:xfrm>
            <a:off x="4617720" y="4873752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public safety</a:t>
            </a:r>
            <a:endParaRPr lang="en-US" sz="1300" dirty="0"/>
          </a:p>
        </p:txBody>
      </p:sp>
      <p:sp>
        <p:nvSpPr>
          <p:cNvPr id="30" name="Text 22"/>
          <p:cNvSpPr/>
          <p:nvPr/>
        </p:nvSpPr>
        <p:spPr>
          <a:xfrm>
            <a:off x="4617720" y="5166360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93A5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systems help prevent incidents early.</a:t>
            </a:r>
            <a:endParaRPr lang="en-US" sz="950" dirty="0"/>
          </a:p>
        </p:txBody>
      </p:sp>
      <p:sp>
        <p:nvSpPr>
          <p:cNvPr id="31" name="Text 23"/>
          <p:cNvSpPr/>
          <p:nvPr/>
        </p:nvSpPr>
        <p:spPr>
          <a:xfrm>
            <a:off x="10911535" y="640080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3A5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/ 12</a:t>
            </a:r>
            <a:endParaRPr lang="en-US" sz="1000" dirty="0"/>
          </a:p>
        </p:txBody>
      </p:sp>
      <p:sp>
        <p:nvSpPr>
          <p:cNvPr id="32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200" kern="0" dirty="0">
                <a:solidFill>
                  <a:srgbClr val="93A5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FUTURE OF AI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507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ppt/assets/bg_network.png">    </p:cNvPr>
          <p:cNvPicPr>
            <a:picLocks noChangeAspect="1"/>
          </p:cNvPicPr>
          <p:nvPr/>
        </p:nvPicPr>
        <p:blipFill>
          <a:blip r:embed="rId1">
            <a:alphaModFix amt="35000"/>
          </a:blip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5029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22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04 — BEYOND EARTH</a:t>
            </a:r>
            <a:endParaRPr lang="en-US" sz="1300" dirty="0"/>
          </a:p>
        </p:txBody>
      </p:sp>
      <p:sp>
        <p:nvSpPr>
          <p:cNvPr id="4" name="Text 1"/>
          <p:cNvSpPr/>
          <p:nvPr/>
        </p:nvSpPr>
        <p:spPr>
          <a:xfrm>
            <a:off x="640080" y="86868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36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 Space Exploration</a:t>
            </a:r>
            <a:endParaRPr lang="en-US" sz="3200" dirty="0"/>
          </a:p>
        </p:txBody>
      </p:sp>
      <p:sp>
        <p:nvSpPr>
          <p:cNvPr id="5" name="Shape 2"/>
          <p:cNvSpPr/>
          <p:nvPr/>
        </p:nvSpPr>
        <p:spPr>
          <a:xfrm>
            <a:off x="5638648" y="3429000"/>
            <a:ext cx="914400" cy="914400"/>
          </a:xfrm>
          <a:prstGeom prst="ellipse">
            <a:avLst/>
          </a:prstGeom>
          <a:solidFill>
            <a:srgbClr val="0B2A44"/>
          </a:solidFill>
          <a:ln w="25400">
            <a:solidFill>
              <a:srgbClr val="22E5FF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40000"/>
              </a:srgbClr>
            </a:outerShdw>
          </a:effectLst>
        </p:spPr>
      </p:sp>
      <p:pic>
        <p:nvPicPr>
          <p:cNvPr id="6" name="Image 1" descr="/home/claude/ppt/icons/glob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57520" y="3547872"/>
            <a:ext cx="676656" cy="676656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4358488" y="2148840"/>
            <a:ext cx="3474720" cy="3474720"/>
          </a:xfrm>
          <a:prstGeom prst="ellipse">
            <a:avLst/>
          </a:prstGeom>
          <a:ln w="12700">
            <a:solidFill>
              <a:srgbClr val="0FA8C4">
                <a:alpha val="65000"/>
              </a:srgbClr>
            </a:solidFill>
            <a:prstDash val="dash"/>
          </a:ln>
        </p:spPr>
      </p:sp>
      <p:sp>
        <p:nvSpPr>
          <p:cNvPr id="8" name="Shape 4"/>
          <p:cNvSpPr/>
          <p:nvPr/>
        </p:nvSpPr>
        <p:spPr>
          <a:xfrm>
            <a:off x="6095848" y="3886200"/>
            <a:ext cx="0" cy="-1737360"/>
          </a:xfrm>
          <a:prstGeom prst="line">
            <a:avLst/>
          </a:prstGeom>
          <a:noFill/>
          <a:ln w="9525">
            <a:solidFill>
              <a:srgbClr val="0FA8C4">
                <a:alpha val="60000"/>
              </a:srgbClr>
            </a:solidFill>
            <a:prstDash val="solid"/>
          </a:ln>
        </p:spPr>
      </p:sp>
      <p:sp>
        <p:nvSpPr>
          <p:cNvPr id="9" name="Shape 5"/>
          <p:cNvSpPr/>
          <p:nvPr/>
        </p:nvSpPr>
        <p:spPr>
          <a:xfrm>
            <a:off x="5730088" y="1783080"/>
            <a:ext cx="731520" cy="731520"/>
          </a:xfrm>
          <a:prstGeom prst="ellipse">
            <a:avLst/>
          </a:prstGeom>
          <a:solidFill>
            <a:srgbClr val="111C3D"/>
          </a:solidFill>
          <a:ln w="12700">
            <a:solidFill>
              <a:srgbClr val="22E5FF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40000"/>
              </a:srgbClr>
            </a:outerShdw>
          </a:effectLst>
        </p:spPr>
      </p:sp>
      <p:pic>
        <p:nvPicPr>
          <p:cNvPr id="10" name="Image 2" descr="/home/claude/ppt/icons/meteo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25185" y="1878178"/>
            <a:ext cx="541325" cy="541325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5090008" y="256032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Exploring Mars</a:t>
            </a:r>
            <a:endParaRPr lang="en-US" sz="1100" dirty="0"/>
          </a:p>
        </p:txBody>
      </p:sp>
      <p:sp>
        <p:nvSpPr>
          <p:cNvPr id="12" name="Shape 7"/>
          <p:cNvSpPr/>
          <p:nvPr/>
        </p:nvSpPr>
        <p:spPr>
          <a:xfrm>
            <a:off x="6095848" y="3886200"/>
            <a:ext cx="1652328" cy="-536874"/>
          </a:xfrm>
          <a:prstGeom prst="line">
            <a:avLst/>
          </a:prstGeom>
          <a:noFill/>
          <a:ln w="9525">
            <a:solidFill>
              <a:srgbClr val="0FA8C4">
                <a:alpha val="60000"/>
              </a:srgbClr>
            </a:solidFill>
            <a:prstDash val="solid"/>
          </a:ln>
        </p:spPr>
      </p:sp>
      <p:sp>
        <p:nvSpPr>
          <p:cNvPr id="13" name="Shape 8"/>
          <p:cNvSpPr/>
          <p:nvPr/>
        </p:nvSpPr>
        <p:spPr>
          <a:xfrm>
            <a:off x="7382415" y="2983566"/>
            <a:ext cx="731520" cy="731520"/>
          </a:xfrm>
          <a:prstGeom prst="ellipse">
            <a:avLst/>
          </a:prstGeom>
          <a:solidFill>
            <a:srgbClr val="111C3D"/>
          </a:solidFill>
          <a:ln w="12700">
            <a:solidFill>
              <a:srgbClr val="22E5FF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40000"/>
              </a:srgbClr>
            </a:outerShdw>
          </a:effectLst>
        </p:spPr>
      </p:sp>
      <p:pic>
        <p:nvPicPr>
          <p:cNvPr id="14" name="Image 3" descr="/home/claude/ppt/icons/robo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77513" y="3078664"/>
            <a:ext cx="541325" cy="541325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6742335" y="3760806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 space robots</a:t>
            </a:r>
            <a:endParaRPr lang="en-US" sz="1100" dirty="0"/>
          </a:p>
        </p:txBody>
      </p:sp>
      <p:sp>
        <p:nvSpPr>
          <p:cNvPr id="16" name="Shape 10"/>
          <p:cNvSpPr/>
          <p:nvPr/>
        </p:nvSpPr>
        <p:spPr>
          <a:xfrm>
            <a:off x="6095848" y="3886200"/>
            <a:ext cx="1021195" cy="1405554"/>
          </a:xfrm>
          <a:prstGeom prst="line">
            <a:avLst/>
          </a:prstGeom>
          <a:noFill/>
          <a:ln w="9525">
            <a:solidFill>
              <a:srgbClr val="0FA8C4">
                <a:alpha val="60000"/>
              </a:srgbClr>
            </a:solidFill>
            <a:prstDash val="solid"/>
          </a:ln>
        </p:spPr>
      </p:sp>
      <p:sp>
        <p:nvSpPr>
          <p:cNvPr id="17" name="Shape 11"/>
          <p:cNvSpPr/>
          <p:nvPr/>
        </p:nvSpPr>
        <p:spPr>
          <a:xfrm>
            <a:off x="6751282" y="4925994"/>
            <a:ext cx="731520" cy="731520"/>
          </a:xfrm>
          <a:prstGeom prst="ellipse">
            <a:avLst/>
          </a:prstGeom>
          <a:solidFill>
            <a:srgbClr val="111C3D"/>
          </a:solidFill>
          <a:ln w="12700">
            <a:solidFill>
              <a:srgbClr val="22E5FF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40000"/>
              </a:srgbClr>
            </a:outerShdw>
          </a:effectLst>
        </p:spPr>
      </p:sp>
      <p:pic>
        <p:nvPicPr>
          <p:cNvPr id="18" name="Image 4" descr="/home/claude/ppt/icons/satell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46380" y="5021091"/>
            <a:ext cx="541325" cy="541325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6111202" y="5703234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Satellite monitoring</a:t>
            </a:r>
            <a:endParaRPr lang="en-US" sz="1100" dirty="0"/>
          </a:p>
        </p:txBody>
      </p:sp>
      <p:sp>
        <p:nvSpPr>
          <p:cNvPr id="20" name="Shape 13"/>
          <p:cNvSpPr/>
          <p:nvPr/>
        </p:nvSpPr>
        <p:spPr>
          <a:xfrm>
            <a:off x="6095848" y="3886200"/>
            <a:ext cx="-1021195" cy="1405554"/>
          </a:xfrm>
          <a:prstGeom prst="line">
            <a:avLst/>
          </a:prstGeom>
          <a:noFill/>
          <a:ln w="9525">
            <a:solidFill>
              <a:srgbClr val="0FA8C4">
                <a:alpha val="60000"/>
              </a:srgbClr>
            </a:solidFill>
            <a:prstDash val="solid"/>
          </a:ln>
        </p:spPr>
      </p:sp>
      <p:sp>
        <p:nvSpPr>
          <p:cNvPr id="21" name="Shape 14"/>
          <p:cNvSpPr/>
          <p:nvPr/>
        </p:nvSpPr>
        <p:spPr>
          <a:xfrm>
            <a:off x="4708893" y="4925994"/>
            <a:ext cx="731520" cy="731520"/>
          </a:xfrm>
          <a:prstGeom prst="ellipse">
            <a:avLst/>
          </a:prstGeom>
          <a:solidFill>
            <a:srgbClr val="111C3D"/>
          </a:solidFill>
          <a:ln w="12700">
            <a:solidFill>
              <a:srgbClr val="22E5FF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40000"/>
              </a:srgbClr>
            </a:outerShdw>
          </a:effectLst>
        </p:spPr>
      </p:sp>
      <p:pic>
        <p:nvPicPr>
          <p:cNvPr id="22" name="Image 5" descr="/home/claude/ppt/icons/earth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03991" y="5021091"/>
            <a:ext cx="541325" cy="541325"/>
          </a:xfrm>
          <a:prstGeom prst="rect">
            <a:avLst/>
          </a:prstGeom>
        </p:spPr>
      </p:pic>
      <p:sp>
        <p:nvSpPr>
          <p:cNvPr id="23" name="Text 15"/>
          <p:cNvSpPr/>
          <p:nvPr/>
        </p:nvSpPr>
        <p:spPr>
          <a:xfrm>
            <a:off x="4068813" y="5703234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habitable planets</a:t>
            </a:r>
            <a:endParaRPr lang="en-US" sz="1100" dirty="0"/>
          </a:p>
        </p:txBody>
      </p:sp>
      <p:sp>
        <p:nvSpPr>
          <p:cNvPr id="24" name="Shape 16"/>
          <p:cNvSpPr/>
          <p:nvPr/>
        </p:nvSpPr>
        <p:spPr>
          <a:xfrm>
            <a:off x="6095848" y="3886200"/>
            <a:ext cx="-1652328" cy="-536874"/>
          </a:xfrm>
          <a:prstGeom prst="line">
            <a:avLst/>
          </a:prstGeom>
          <a:noFill/>
          <a:ln w="9525">
            <a:solidFill>
              <a:srgbClr val="0FA8C4">
                <a:alpha val="60000"/>
              </a:srgbClr>
            </a:solidFill>
            <a:prstDash val="solid"/>
          </a:ln>
        </p:spPr>
      </p:sp>
      <p:sp>
        <p:nvSpPr>
          <p:cNvPr id="25" name="Shape 17"/>
          <p:cNvSpPr/>
          <p:nvPr/>
        </p:nvSpPr>
        <p:spPr>
          <a:xfrm>
            <a:off x="4077760" y="2983566"/>
            <a:ext cx="731520" cy="731520"/>
          </a:xfrm>
          <a:prstGeom prst="ellipse">
            <a:avLst/>
          </a:prstGeom>
          <a:solidFill>
            <a:srgbClr val="111C3D"/>
          </a:solidFill>
          <a:ln w="12700">
            <a:solidFill>
              <a:srgbClr val="22E5FF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40000"/>
              </a:srgbClr>
            </a:outerShdw>
          </a:effectLst>
        </p:spPr>
      </p:sp>
      <p:pic>
        <p:nvPicPr>
          <p:cNvPr id="26" name="Image 6" descr="/home/claude/ppt/icons/astronaut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172858" y="3078664"/>
            <a:ext cx="541325" cy="541325"/>
          </a:xfrm>
          <a:prstGeom prst="rect">
            <a:avLst/>
          </a:prstGeom>
        </p:spPr>
      </p:pic>
      <p:sp>
        <p:nvSpPr>
          <p:cNvPr id="27" name="Text 18"/>
          <p:cNvSpPr/>
          <p:nvPr/>
        </p:nvSpPr>
        <p:spPr>
          <a:xfrm>
            <a:off x="3437680" y="3760806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Assisting astronauts</a:t>
            </a:r>
            <a:endParaRPr lang="en-US" sz="1100" dirty="0"/>
          </a:p>
        </p:txBody>
      </p:sp>
      <p:sp>
        <p:nvSpPr>
          <p:cNvPr id="28" name="Text 19"/>
          <p:cNvSpPr/>
          <p:nvPr/>
        </p:nvSpPr>
        <p:spPr>
          <a:xfrm>
            <a:off x="10911535" y="640080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3A5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/ 12</a:t>
            </a:r>
            <a:endParaRPr lang="en-US" sz="1000" dirty="0"/>
          </a:p>
        </p:txBody>
      </p:sp>
      <p:sp>
        <p:nvSpPr>
          <p:cNvPr id="29" name="Text 20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200" kern="0" dirty="0">
                <a:solidFill>
                  <a:srgbClr val="93A5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FUTURE OF AI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507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ppt/assets/bg_network.png">    </p:cNvPr>
          <p:cNvPicPr>
            <a:picLocks noChangeAspect="1"/>
          </p:cNvPicPr>
          <p:nvPr/>
        </p:nvPicPr>
        <p:blipFill>
          <a:blip r:embed="rId1">
            <a:alphaModFix amt="22000"/>
          </a:blip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5029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22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BALANCED VIEW</a:t>
            </a:r>
            <a:endParaRPr lang="en-US" sz="1300" dirty="0"/>
          </a:p>
        </p:txBody>
      </p:sp>
      <p:sp>
        <p:nvSpPr>
          <p:cNvPr id="4" name="Text 1"/>
          <p:cNvSpPr/>
          <p:nvPr/>
        </p:nvSpPr>
        <p:spPr>
          <a:xfrm>
            <a:off x="640080" y="86868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36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Benefits &amp; Challenges</a:t>
            </a:r>
            <a:endParaRPr lang="en-US" sz="3200" dirty="0"/>
          </a:p>
        </p:txBody>
      </p:sp>
      <p:sp>
        <p:nvSpPr>
          <p:cNvPr id="5" name="Shape 2"/>
          <p:cNvSpPr/>
          <p:nvPr/>
        </p:nvSpPr>
        <p:spPr>
          <a:xfrm>
            <a:off x="640080" y="1874520"/>
            <a:ext cx="5349240" cy="4434840"/>
          </a:xfrm>
          <a:prstGeom prst="roundRect">
            <a:avLst>
              <a:gd name="adj" fmla="val 2887"/>
            </a:avLst>
          </a:prstGeom>
          <a:solidFill>
            <a:srgbClr val="0C2A1F">
              <a:alpha val="45000"/>
            </a:srgbClr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914400" y="2075688"/>
            <a:ext cx="480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BENEFITS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6263640" y="1874520"/>
            <a:ext cx="5349240" cy="4434840"/>
          </a:xfrm>
          <a:prstGeom prst="roundRect">
            <a:avLst>
              <a:gd name="adj" fmla="val 2887"/>
            </a:avLst>
          </a:prstGeom>
          <a:solidFill>
            <a:srgbClr val="2E1010">
              <a:alpha val="45000"/>
            </a:srgbClr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537960" y="2075688"/>
            <a:ext cx="480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914400" y="2651760"/>
            <a:ext cx="438912" cy="438912"/>
          </a:xfrm>
          <a:prstGeom prst="ellipse">
            <a:avLst/>
          </a:prstGeom>
          <a:solidFill>
            <a:srgbClr val="113322"/>
          </a:solidFill>
          <a:ln w="12700">
            <a:solidFill>
              <a:srgbClr val="4ADE80"/>
            </a:solidFill>
            <a:prstDash val="solid"/>
          </a:ln>
        </p:spPr>
      </p:sp>
      <p:pic>
        <p:nvPicPr>
          <p:cNvPr id="10" name="Image 1" descr="/home/claude/ppt/icons/heartpulse_gree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1459" y="2708819"/>
            <a:ext cx="324795" cy="324795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463040" y="2651760"/>
            <a:ext cx="4251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healthcare</a:t>
            </a:r>
            <a:endParaRPr lang="en-US" sz="1350" dirty="0"/>
          </a:p>
        </p:txBody>
      </p:sp>
      <p:sp>
        <p:nvSpPr>
          <p:cNvPr id="12" name="Shape 8"/>
          <p:cNvSpPr/>
          <p:nvPr/>
        </p:nvSpPr>
        <p:spPr>
          <a:xfrm>
            <a:off x="914400" y="3364992"/>
            <a:ext cx="438912" cy="438912"/>
          </a:xfrm>
          <a:prstGeom prst="ellipse">
            <a:avLst/>
          </a:prstGeom>
          <a:solidFill>
            <a:srgbClr val="113322"/>
          </a:solidFill>
          <a:ln w="12700">
            <a:solidFill>
              <a:srgbClr val="4ADE80"/>
            </a:solidFill>
            <a:prstDash val="solid"/>
          </a:ln>
        </p:spPr>
      </p:sp>
      <p:pic>
        <p:nvPicPr>
          <p:cNvPr id="13" name="Image 2" descr="/home/claude/ppt/icons/bolt_gree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1459" y="3422051"/>
            <a:ext cx="324795" cy="324795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463040" y="3364992"/>
            <a:ext cx="4251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work</a:t>
            </a:r>
            <a:endParaRPr lang="en-US" sz="1350" dirty="0"/>
          </a:p>
        </p:txBody>
      </p:sp>
      <p:sp>
        <p:nvSpPr>
          <p:cNvPr id="15" name="Shape 10"/>
          <p:cNvSpPr/>
          <p:nvPr/>
        </p:nvSpPr>
        <p:spPr>
          <a:xfrm>
            <a:off x="914400" y="4078224"/>
            <a:ext cx="438912" cy="438912"/>
          </a:xfrm>
          <a:prstGeom prst="ellipse">
            <a:avLst/>
          </a:prstGeom>
          <a:solidFill>
            <a:srgbClr val="113322"/>
          </a:solidFill>
          <a:ln w="12700">
            <a:solidFill>
              <a:srgbClr val="4ADE80"/>
            </a:solidFill>
            <a:prstDash val="solid"/>
          </a:ln>
        </p:spPr>
      </p:sp>
      <p:pic>
        <p:nvPicPr>
          <p:cNvPr id="16" name="Image 3" descr="/home/claude/ppt/icons/grad_green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1459" y="4135283"/>
            <a:ext cx="324795" cy="324795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1463040" y="4078224"/>
            <a:ext cx="4251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Smarter education</a:t>
            </a:r>
            <a:endParaRPr lang="en-US" sz="1350" dirty="0"/>
          </a:p>
        </p:txBody>
      </p:sp>
      <p:sp>
        <p:nvSpPr>
          <p:cNvPr id="18" name="Shape 12"/>
          <p:cNvSpPr/>
          <p:nvPr/>
        </p:nvSpPr>
        <p:spPr>
          <a:xfrm>
            <a:off x="914400" y="4791456"/>
            <a:ext cx="438912" cy="438912"/>
          </a:xfrm>
          <a:prstGeom prst="ellipse">
            <a:avLst/>
          </a:prstGeom>
          <a:solidFill>
            <a:srgbClr val="113322"/>
          </a:solidFill>
          <a:ln w="12700">
            <a:solidFill>
              <a:srgbClr val="4ADE80"/>
            </a:solidFill>
            <a:prstDash val="solid"/>
          </a:ln>
        </p:spPr>
      </p:sp>
      <p:pic>
        <p:nvPicPr>
          <p:cNvPr id="19" name="Image 4" descr="/home/claude/ppt/icons/carside_green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1459" y="4848515"/>
            <a:ext cx="324795" cy="324795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1463040" y="4791456"/>
            <a:ext cx="4251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Safer transportation</a:t>
            </a:r>
            <a:endParaRPr lang="en-US" sz="1350" dirty="0"/>
          </a:p>
        </p:txBody>
      </p:sp>
      <p:sp>
        <p:nvSpPr>
          <p:cNvPr id="21" name="Shape 14"/>
          <p:cNvSpPr/>
          <p:nvPr/>
        </p:nvSpPr>
        <p:spPr>
          <a:xfrm>
            <a:off x="914400" y="5504688"/>
            <a:ext cx="438912" cy="438912"/>
          </a:xfrm>
          <a:prstGeom prst="ellipse">
            <a:avLst/>
          </a:prstGeom>
          <a:solidFill>
            <a:srgbClr val="113322"/>
          </a:solidFill>
          <a:ln w="12700">
            <a:solidFill>
              <a:srgbClr val="4ADE80"/>
            </a:solidFill>
            <a:prstDash val="solid"/>
          </a:ln>
        </p:spPr>
      </p:sp>
      <p:pic>
        <p:nvPicPr>
          <p:cNvPr id="22" name="Image 5" descr="/home/claude/ppt/icons/flask_green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71459" y="5561747"/>
            <a:ext cx="324795" cy="324795"/>
          </a:xfrm>
          <a:prstGeom prst="rect">
            <a:avLst/>
          </a:prstGeom>
        </p:spPr>
      </p:pic>
      <p:sp>
        <p:nvSpPr>
          <p:cNvPr id="23" name="Text 15"/>
          <p:cNvSpPr/>
          <p:nvPr/>
        </p:nvSpPr>
        <p:spPr>
          <a:xfrm>
            <a:off x="1463040" y="5504688"/>
            <a:ext cx="4251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Scientific discoveries</a:t>
            </a:r>
            <a:endParaRPr lang="en-US" sz="1350" dirty="0"/>
          </a:p>
        </p:txBody>
      </p:sp>
      <p:sp>
        <p:nvSpPr>
          <p:cNvPr id="24" name="Shape 16"/>
          <p:cNvSpPr/>
          <p:nvPr/>
        </p:nvSpPr>
        <p:spPr>
          <a:xfrm>
            <a:off x="6537960" y="2651760"/>
            <a:ext cx="438912" cy="438912"/>
          </a:xfrm>
          <a:prstGeom prst="ellipse">
            <a:avLst/>
          </a:prstGeom>
          <a:solidFill>
            <a:srgbClr val="3A1414"/>
          </a:solidFill>
          <a:ln w="12700">
            <a:solidFill>
              <a:srgbClr val="FF6B6B"/>
            </a:solidFill>
            <a:prstDash val="solid"/>
          </a:ln>
        </p:spPr>
      </p:sp>
      <p:pic>
        <p:nvPicPr>
          <p:cNvPr id="25" name="Image 6" descr="/home/claude/ppt/icons/lock_r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95019" y="2708819"/>
            <a:ext cx="324795" cy="324795"/>
          </a:xfrm>
          <a:prstGeom prst="rect">
            <a:avLst/>
          </a:prstGeom>
        </p:spPr>
      </p:pic>
      <p:sp>
        <p:nvSpPr>
          <p:cNvPr id="26" name="Text 17"/>
          <p:cNvSpPr/>
          <p:nvPr/>
        </p:nvSpPr>
        <p:spPr>
          <a:xfrm>
            <a:off x="7086600" y="2651760"/>
            <a:ext cx="4251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 concerns</a:t>
            </a:r>
            <a:endParaRPr lang="en-US" sz="1350" dirty="0"/>
          </a:p>
        </p:txBody>
      </p:sp>
      <p:sp>
        <p:nvSpPr>
          <p:cNvPr id="27" name="Shape 18"/>
          <p:cNvSpPr/>
          <p:nvPr/>
        </p:nvSpPr>
        <p:spPr>
          <a:xfrm>
            <a:off x="6537960" y="3364992"/>
            <a:ext cx="438912" cy="438912"/>
          </a:xfrm>
          <a:prstGeom prst="ellipse">
            <a:avLst/>
          </a:prstGeom>
          <a:solidFill>
            <a:srgbClr val="3A1414"/>
          </a:solidFill>
          <a:ln w="12700">
            <a:solidFill>
              <a:srgbClr val="FF6B6B"/>
            </a:solidFill>
            <a:prstDash val="solid"/>
          </a:ln>
        </p:spPr>
      </p:sp>
      <p:pic>
        <p:nvPicPr>
          <p:cNvPr id="28" name="Image 7" descr="/home/claude/ppt/icons/briefcase_r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95019" y="3422051"/>
            <a:ext cx="324795" cy="324795"/>
          </a:xfrm>
          <a:prstGeom prst="rect">
            <a:avLst/>
          </a:prstGeom>
        </p:spPr>
      </p:pic>
      <p:sp>
        <p:nvSpPr>
          <p:cNvPr id="29" name="Text 19"/>
          <p:cNvSpPr/>
          <p:nvPr/>
        </p:nvSpPr>
        <p:spPr>
          <a:xfrm>
            <a:off x="7086600" y="3364992"/>
            <a:ext cx="4251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changes</a:t>
            </a:r>
            <a:endParaRPr lang="en-US" sz="1350" dirty="0"/>
          </a:p>
        </p:txBody>
      </p:sp>
      <p:sp>
        <p:nvSpPr>
          <p:cNvPr id="30" name="Shape 20"/>
          <p:cNvSpPr/>
          <p:nvPr/>
        </p:nvSpPr>
        <p:spPr>
          <a:xfrm>
            <a:off x="6537960" y="4078224"/>
            <a:ext cx="438912" cy="438912"/>
          </a:xfrm>
          <a:prstGeom prst="ellipse">
            <a:avLst/>
          </a:prstGeom>
          <a:solidFill>
            <a:srgbClr val="3A1414"/>
          </a:solidFill>
          <a:ln w="12700">
            <a:solidFill>
              <a:srgbClr val="FF6B6B"/>
            </a:solidFill>
            <a:prstDash val="solid"/>
          </a:ln>
        </p:spPr>
      </p:sp>
      <p:pic>
        <p:nvPicPr>
          <p:cNvPr id="31" name="Image 8" descr="/home/claude/ppt/icons/scale_r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595019" y="4135283"/>
            <a:ext cx="324795" cy="324795"/>
          </a:xfrm>
          <a:prstGeom prst="rect">
            <a:avLst/>
          </a:prstGeom>
        </p:spPr>
      </p:pic>
      <p:sp>
        <p:nvSpPr>
          <p:cNvPr id="32" name="Text 21"/>
          <p:cNvSpPr/>
          <p:nvPr/>
        </p:nvSpPr>
        <p:spPr>
          <a:xfrm>
            <a:off x="7086600" y="4078224"/>
            <a:ext cx="4251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bias</a:t>
            </a:r>
            <a:endParaRPr lang="en-US" sz="1350" dirty="0"/>
          </a:p>
        </p:txBody>
      </p:sp>
      <p:sp>
        <p:nvSpPr>
          <p:cNvPr id="33" name="Shape 22"/>
          <p:cNvSpPr/>
          <p:nvPr/>
        </p:nvSpPr>
        <p:spPr>
          <a:xfrm>
            <a:off x="6537960" y="4791456"/>
            <a:ext cx="438912" cy="438912"/>
          </a:xfrm>
          <a:prstGeom prst="ellipse">
            <a:avLst/>
          </a:prstGeom>
          <a:solidFill>
            <a:srgbClr val="3A1414"/>
          </a:solidFill>
          <a:ln w="12700">
            <a:solidFill>
              <a:srgbClr val="FF6B6B"/>
            </a:solidFill>
            <a:prstDash val="solid"/>
          </a:ln>
        </p:spPr>
      </p:sp>
      <p:pic>
        <p:nvPicPr>
          <p:cNvPr id="34" name="Image 9" descr="/home/claude/ppt/icons/shield_r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595019" y="4848515"/>
            <a:ext cx="324795" cy="324795"/>
          </a:xfrm>
          <a:prstGeom prst="rect">
            <a:avLst/>
          </a:prstGeom>
        </p:spPr>
      </p:pic>
      <p:sp>
        <p:nvSpPr>
          <p:cNvPr id="35" name="Text 23"/>
          <p:cNvSpPr/>
          <p:nvPr/>
        </p:nvSpPr>
        <p:spPr>
          <a:xfrm>
            <a:off x="7086600" y="4791456"/>
            <a:ext cx="4251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Cybersecurity</a:t>
            </a:r>
            <a:endParaRPr lang="en-US" sz="1350" dirty="0"/>
          </a:p>
        </p:txBody>
      </p:sp>
      <p:sp>
        <p:nvSpPr>
          <p:cNvPr id="36" name="Shape 24"/>
          <p:cNvSpPr/>
          <p:nvPr/>
        </p:nvSpPr>
        <p:spPr>
          <a:xfrm>
            <a:off x="6537960" y="5504688"/>
            <a:ext cx="438912" cy="438912"/>
          </a:xfrm>
          <a:prstGeom prst="ellipse">
            <a:avLst/>
          </a:prstGeom>
          <a:solidFill>
            <a:srgbClr val="3A1414"/>
          </a:solidFill>
          <a:ln w="12700">
            <a:solidFill>
              <a:srgbClr val="FF6B6B"/>
            </a:solidFill>
            <a:prstDash val="solid"/>
          </a:ln>
        </p:spPr>
      </p:sp>
      <p:pic>
        <p:nvPicPr>
          <p:cNvPr id="37" name="Image 10" descr="/home/claude/ppt/icons/exclaim_r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595019" y="5561747"/>
            <a:ext cx="324795" cy="324795"/>
          </a:xfrm>
          <a:prstGeom prst="rect">
            <a:avLst/>
          </a:prstGeom>
        </p:spPr>
      </p:pic>
      <p:sp>
        <p:nvSpPr>
          <p:cNvPr id="38" name="Text 25"/>
          <p:cNvSpPr/>
          <p:nvPr/>
        </p:nvSpPr>
        <p:spPr>
          <a:xfrm>
            <a:off x="7086600" y="5504688"/>
            <a:ext cx="4251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Ethical issues</a:t>
            </a:r>
            <a:endParaRPr lang="en-US" sz="1350" dirty="0"/>
          </a:p>
        </p:txBody>
      </p:sp>
      <p:sp>
        <p:nvSpPr>
          <p:cNvPr id="39" name="Text 26"/>
          <p:cNvSpPr/>
          <p:nvPr/>
        </p:nvSpPr>
        <p:spPr>
          <a:xfrm>
            <a:off x="10911535" y="640080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3A5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/ 12</a:t>
            </a:r>
            <a:endParaRPr lang="en-US" sz="1000" dirty="0"/>
          </a:p>
        </p:txBody>
      </p:sp>
      <p:sp>
        <p:nvSpPr>
          <p:cNvPr id="40" name="Text 2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200" kern="0" dirty="0">
                <a:solidFill>
                  <a:srgbClr val="93A5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FUTURE OF AI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507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ppt/assets/bg_network.png">    </p:cNvPr>
          <p:cNvPicPr>
            <a:picLocks noChangeAspect="1"/>
          </p:cNvPicPr>
          <p:nvPr/>
        </p:nvPicPr>
        <p:blipFill>
          <a:blip r:embed="rId1">
            <a:alphaModFix amt="22000"/>
          </a:blip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5029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22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OPPORTUNITIES</a:t>
            </a:r>
            <a:endParaRPr lang="en-US" sz="1300" dirty="0"/>
          </a:p>
        </p:txBody>
      </p:sp>
      <p:sp>
        <p:nvSpPr>
          <p:cNvPr id="4" name="Text 1"/>
          <p:cNvSpPr/>
          <p:nvPr/>
        </p:nvSpPr>
        <p:spPr>
          <a:xfrm>
            <a:off x="640080" y="86868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36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Jobs Will AI Create?</a:t>
            </a:r>
            <a:endParaRPr lang="en-US" sz="3200" dirty="0"/>
          </a:p>
        </p:txBody>
      </p:sp>
      <p:sp>
        <p:nvSpPr>
          <p:cNvPr id="5" name="Shape 2"/>
          <p:cNvSpPr/>
          <p:nvPr/>
        </p:nvSpPr>
        <p:spPr>
          <a:xfrm>
            <a:off x="640080" y="1965960"/>
            <a:ext cx="3474720" cy="1417320"/>
          </a:xfrm>
          <a:prstGeom prst="roundRect">
            <a:avLst>
              <a:gd name="adj" fmla="val 7742"/>
            </a:avLst>
          </a:prstGeom>
          <a:solidFill>
            <a:srgbClr val="111C3D"/>
          </a:solidFill>
          <a:ln w="12700">
            <a:solidFill>
              <a:srgbClr val="1E2E5C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2080260" y="2148840"/>
            <a:ext cx="594360" cy="594360"/>
          </a:xfrm>
          <a:prstGeom prst="ellipse">
            <a:avLst/>
          </a:prstGeom>
          <a:solidFill>
            <a:srgbClr val="15234A"/>
          </a:solidFill>
          <a:ln w="12700">
            <a:solidFill>
              <a:srgbClr val="22E5FF"/>
            </a:solidFill>
            <a:prstDash val="solid"/>
          </a:ln>
        </p:spPr>
      </p:sp>
      <p:pic>
        <p:nvPicPr>
          <p:cNvPr id="7" name="Image 1" descr="/home/claude/ppt/icons/microchi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57527" y="2226107"/>
            <a:ext cx="439826" cy="439826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731520" y="2862072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Engineer</a:t>
            </a:r>
            <a:endParaRPr lang="en-US" sz="1300" dirty="0"/>
          </a:p>
        </p:txBody>
      </p:sp>
      <p:sp>
        <p:nvSpPr>
          <p:cNvPr id="9" name="Shape 5"/>
          <p:cNvSpPr/>
          <p:nvPr/>
        </p:nvSpPr>
        <p:spPr>
          <a:xfrm>
            <a:off x="4389120" y="1965960"/>
            <a:ext cx="3474720" cy="1417320"/>
          </a:xfrm>
          <a:prstGeom prst="roundRect">
            <a:avLst>
              <a:gd name="adj" fmla="val 7742"/>
            </a:avLst>
          </a:prstGeom>
          <a:solidFill>
            <a:srgbClr val="111C3D"/>
          </a:solidFill>
          <a:ln w="12700">
            <a:solidFill>
              <a:srgbClr val="1E2E5C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5829300" y="2148840"/>
            <a:ext cx="594360" cy="594360"/>
          </a:xfrm>
          <a:prstGeom prst="ellipse">
            <a:avLst/>
          </a:prstGeom>
          <a:solidFill>
            <a:srgbClr val="15234A"/>
          </a:solidFill>
          <a:ln w="12700">
            <a:solidFill>
              <a:srgbClr val="22E5FF"/>
            </a:solidFill>
            <a:prstDash val="solid"/>
          </a:ln>
        </p:spPr>
      </p:sp>
      <p:pic>
        <p:nvPicPr>
          <p:cNvPr id="11" name="Image 2" descr="/home/claude/ppt/icons/chartlin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06567" y="2226107"/>
            <a:ext cx="439826" cy="439826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4480560" y="2862072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Scientist</a:t>
            </a:r>
            <a:endParaRPr lang="en-US" sz="1300" dirty="0"/>
          </a:p>
        </p:txBody>
      </p:sp>
      <p:sp>
        <p:nvSpPr>
          <p:cNvPr id="13" name="Shape 8"/>
          <p:cNvSpPr/>
          <p:nvPr/>
        </p:nvSpPr>
        <p:spPr>
          <a:xfrm>
            <a:off x="8138160" y="1965960"/>
            <a:ext cx="3474720" cy="1417320"/>
          </a:xfrm>
          <a:prstGeom prst="roundRect">
            <a:avLst>
              <a:gd name="adj" fmla="val 7742"/>
            </a:avLst>
          </a:prstGeom>
          <a:solidFill>
            <a:srgbClr val="111C3D"/>
          </a:solidFill>
          <a:ln w="12700">
            <a:solidFill>
              <a:srgbClr val="1E2E5C"/>
            </a:solidFill>
            <a:prstDash val="solid"/>
          </a:ln>
        </p:spPr>
      </p:sp>
      <p:sp>
        <p:nvSpPr>
          <p:cNvPr id="14" name="Shape 9"/>
          <p:cNvSpPr/>
          <p:nvPr/>
        </p:nvSpPr>
        <p:spPr>
          <a:xfrm>
            <a:off x="9578340" y="2148840"/>
            <a:ext cx="594360" cy="594360"/>
          </a:xfrm>
          <a:prstGeom prst="ellipse">
            <a:avLst/>
          </a:prstGeom>
          <a:solidFill>
            <a:srgbClr val="15234A"/>
          </a:solidFill>
          <a:ln w="12700">
            <a:solidFill>
              <a:srgbClr val="22E5FF"/>
            </a:solidFill>
            <a:prstDash val="solid"/>
          </a:ln>
        </p:spPr>
      </p:sp>
      <p:pic>
        <p:nvPicPr>
          <p:cNvPr id="15" name="Image 3" descr="/home/claude/ppt/icons/robo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55607" y="2226107"/>
            <a:ext cx="439826" cy="439826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8229600" y="2862072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Robotics Engineer</a:t>
            </a:r>
            <a:endParaRPr lang="en-US" sz="1300" dirty="0"/>
          </a:p>
        </p:txBody>
      </p:sp>
      <p:sp>
        <p:nvSpPr>
          <p:cNvPr id="17" name="Shape 11"/>
          <p:cNvSpPr/>
          <p:nvPr/>
        </p:nvSpPr>
        <p:spPr>
          <a:xfrm>
            <a:off x="640080" y="3657600"/>
            <a:ext cx="3474720" cy="1417320"/>
          </a:xfrm>
          <a:prstGeom prst="roundRect">
            <a:avLst>
              <a:gd name="adj" fmla="val 7742"/>
            </a:avLst>
          </a:prstGeom>
          <a:solidFill>
            <a:srgbClr val="111C3D"/>
          </a:solidFill>
          <a:ln w="12700">
            <a:solidFill>
              <a:srgbClr val="1E2E5C"/>
            </a:solidFill>
            <a:prstDash val="solid"/>
          </a:ln>
        </p:spPr>
      </p:sp>
      <p:sp>
        <p:nvSpPr>
          <p:cNvPr id="18" name="Shape 12"/>
          <p:cNvSpPr/>
          <p:nvPr/>
        </p:nvSpPr>
        <p:spPr>
          <a:xfrm>
            <a:off x="2080260" y="3840480"/>
            <a:ext cx="594360" cy="594360"/>
          </a:xfrm>
          <a:prstGeom prst="ellipse">
            <a:avLst/>
          </a:prstGeom>
          <a:solidFill>
            <a:srgbClr val="15234A"/>
          </a:solidFill>
          <a:ln w="12700">
            <a:solidFill>
              <a:srgbClr val="22E5FF"/>
            </a:solidFill>
            <a:prstDash val="solid"/>
          </a:ln>
        </p:spPr>
      </p:sp>
      <p:pic>
        <p:nvPicPr>
          <p:cNvPr id="19" name="Image 4" descr="/home/claude/ppt/icons/keyboar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57527" y="3917747"/>
            <a:ext cx="439826" cy="439826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731520" y="4553712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Engineer</a:t>
            </a:r>
            <a:endParaRPr lang="en-US" sz="1300" dirty="0"/>
          </a:p>
        </p:txBody>
      </p:sp>
      <p:sp>
        <p:nvSpPr>
          <p:cNvPr id="21" name="Shape 14"/>
          <p:cNvSpPr/>
          <p:nvPr/>
        </p:nvSpPr>
        <p:spPr>
          <a:xfrm>
            <a:off x="4389120" y="3657600"/>
            <a:ext cx="3474720" cy="1417320"/>
          </a:xfrm>
          <a:prstGeom prst="roundRect">
            <a:avLst>
              <a:gd name="adj" fmla="val 7742"/>
            </a:avLst>
          </a:prstGeom>
          <a:solidFill>
            <a:srgbClr val="111C3D"/>
          </a:solidFill>
          <a:ln w="12700">
            <a:solidFill>
              <a:srgbClr val="1E2E5C"/>
            </a:solidFill>
            <a:prstDash val="solid"/>
          </a:ln>
        </p:spPr>
      </p:sp>
      <p:sp>
        <p:nvSpPr>
          <p:cNvPr id="22" name="Shape 15"/>
          <p:cNvSpPr/>
          <p:nvPr/>
        </p:nvSpPr>
        <p:spPr>
          <a:xfrm>
            <a:off x="5829300" y="3840480"/>
            <a:ext cx="594360" cy="594360"/>
          </a:xfrm>
          <a:prstGeom prst="ellipse">
            <a:avLst/>
          </a:prstGeom>
          <a:solidFill>
            <a:srgbClr val="15234A"/>
          </a:solidFill>
          <a:ln w="12700">
            <a:solidFill>
              <a:srgbClr val="22E5FF"/>
            </a:solidFill>
            <a:prstDash val="solid"/>
          </a:ln>
        </p:spPr>
      </p:sp>
      <p:pic>
        <p:nvPicPr>
          <p:cNvPr id="23" name="Image 5" descr="/home/claude/ppt/icons/scale_cyan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06567" y="3917747"/>
            <a:ext cx="439826" cy="439826"/>
          </a:xfrm>
          <a:prstGeom prst="rect">
            <a:avLst/>
          </a:prstGeom>
        </p:spPr>
      </p:pic>
      <p:sp>
        <p:nvSpPr>
          <p:cNvPr id="24" name="Text 16"/>
          <p:cNvSpPr/>
          <p:nvPr/>
        </p:nvSpPr>
        <p:spPr>
          <a:xfrm>
            <a:off x="4480560" y="4553712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Ethics Specialist</a:t>
            </a:r>
            <a:endParaRPr lang="en-US" sz="1300" dirty="0"/>
          </a:p>
        </p:txBody>
      </p:sp>
      <p:sp>
        <p:nvSpPr>
          <p:cNvPr id="25" name="Shape 17"/>
          <p:cNvSpPr/>
          <p:nvPr/>
        </p:nvSpPr>
        <p:spPr>
          <a:xfrm>
            <a:off x="8138160" y="3657600"/>
            <a:ext cx="3474720" cy="1417320"/>
          </a:xfrm>
          <a:prstGeom prst="roundRect">
            <a:avLst>
              <a:gd name="adj" fmla="val 7742"/>
            </a:avLst>
          </a:prstGeom>
          <a:solidFill>
            <a:srgbClr val="111C3D"/>
          </a:solidFill>
          <a:ln w="12700">
            <a:solidFill>
              <a:srgbClr val="1E2E5C"/>
            </a:solidFill>
            <a:prstDash val="solid"/>
          </a:ln>
        </p:spPr>
      </p:sp>
      <p:sp>
        <p:nvSpPr>
          <p:cNvPr id="26" name="Shape 18"/>
          <p:cNvSpPr/>
          <p:nvPr/>
        </p:nvSpPr>
        <p:spPr>
          <a:xfrm>
            <a:off x="9578340" y="3840480"/>
            <a:ext cx="594360" cy="594360"/>
          </a:xfrm>
          <a:prstGeom prst="ellipse">
            <a:avLst/>
          </a:prstGeom>
          <a:solidFill>
            <a:srgbClr val="15234A"/>
          </a:solidFill>
          <a:ln w="12700">
            <a:solidFill>
              <a:srgbClr val="22E5FF"/>
            </a:solidFill>
            <a:prstDash val="solid"/>
          </a:ln>
        </p:spPr>
      </p:sp>
      <p:pic>
        <p:nvPicPr>
          <p:cNvPr id="27" name="Image 6" descr="/home/claude/ppt/icons/brain_cyan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655607" y="3917747"/>
            <a:ext cx="439826" cy="439826"/>
          </a:xfrm>
          <a:prstGeom prst="rect">
            <a:avLst/>
          </a:prstGeom>
        </p:spPr>
      </p:pic>
      <p:sp>
        <p:nvSpPr>
          <p:cNvPr id="28" name="Text 19"/>
          <p:cNvSpPr/>
          <p:nvPr/>
        </p:nvSpPr>
        <p:spPr>
          <a:xfrm>
            <a:off x="8229600" y="4553712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Engineer</a:t>
            </a:r>
            <a:endParaRPr lang="en-US" sz="1300" dirty="0"/>
          </a:p>
        </p:txBody>
      </p:sp>
      <p:sp>
        <p:nvSpPr>
          <p:cNvPr id="29" name="Text 20"/>
          <p:cNvSpPr/>
          <p:nvPr/>
        </p:nvSpPr>
        <p:spPr>
          <a:xfrm>
            <a:off x="640080" y="53949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i="1" dirty="0">
                <a:solidFill>
                  <a:srgbClr val="93A5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won’t just automate jobs — it will also create many new careers.</a:t>
            </a:r>
            <a:endParaRPr lang="en-US" sz="1450" dirty="0"/>
          </a:p>
        </p:txBody>
      </p:sp>
      <p:sp>
        <p:nvSpPr>
          <p:cNvPr id="30" name="Text 21"/>
          <p:cNvSpPr/>
          <p:nvPr/>
        </p:nvSpPr>
        <p:spPr>
          <a:xfrm>
            <a:off x="10911535" y="640080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3A5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/ 12</a:t>
            </a:r>
            <a:endParaRPr lang="en-US" sz="1000" dirty="0"/>
          </a:p>
        </p:txBody>
      </p:sp>
      <p:sp>
        <p:nvSpPr>
          <p:cNvPr id="31" name="Text 2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200" kern="0" dirty="0">
                <a:solidFill>
                  <a:srgbClr val="93A5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FUTURE OF AI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507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ppt/assets/bg_network.png">    </p:cNvPr>
          <p:cNvPicPr>
            <a:picLocks noChangeAspect="1"/>
          </p:cNvPicPr>
          <p:nvPr/>
        </p:nvPicPr>
        <p:blipFill>
          <a:blip r:embed="rId1">
            <a:alphaModFix amt="22000"/>
          </a:blip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5029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22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1300" dirty="0"/>
          </a:p>
        </p:txBody>
      </p:sp>
      <p:sp>
        <p:nvSpPr>
          <p:cNvPr id="4" name="Text 1"/>
          <p:cNvSpPr/>
          <p:nvPr/>
        </p:nvSpPr>
        <p:spPr>
          <a:xfrm>
            <a:off x="640080" y="86868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57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3400" dirty="0"/>
          </a:p>
        </p:txBody>
      </p:sp>
      <p:sp>
        <p:nvSpPr>
          <p:cNvPr id="5" name="Shape 2"/>
          <p:cNvSpPr/>
          <p:nvPr/>
        </p:nvSpPr>
        <p:spPr>
          <a:xfrm>
            <a:off x="640080" y="2194560"/>
            <a:ext cx="10881360" cy="1005840"/>
          </a:xfrm>
          <a:prstGeom prst="roundRect">
            <a:avLst>
              <a:gd name="adj" fmla="val 10909"/>
            </a:avLst>
          </a:prstGeom>
          <a:solidFill>
            <a:srgbClr val="111C3D"/>
          </a:solidFill>
          <a:ln w="12700">
            <a:solidFill>
              <a:srgbClr val="1E2E5C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914400" y="2377440"/>
            <a:ext cx="640080" cy="640080"/>
          </a:xfrm>
          <a:prstGeom prst="ellipse">
            <a:avLst/>
          </a:prstGeom>
          <a:solidFill>
            <a:srgbClr val="15234A"/>
          </a:solidFill>
          <a:ln w="12700">
            <a:solidFill>
              <a:srgbClr val="22E5FF"/>
            </a:solidFill>
            <a:prstDash val="solid"/>
          </a:ln>
        </p:spPr>
      </p:sp>
      <p:pic>
        <p:nvPicPr>
          <p:cNvPr id="7" name="Image 1" descr="/home/claude/ppt/icons/circlechec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7610" y="2460650"/>
            <a:ext cx="473659" cy="473659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828800" y="2194560"/>
            <a:ext cx="9418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will improve healthcare, education, transportation, and space exploration.</a:t>
            </a:r>
            <a:endParaRPr lang="en-US" sz="1600" dirty="0"/>
          </a:p>
        </p:txBody>
      </p:sp>
      <p:sp>
        <p:nvSpPr>
          <p:cNvPr id="9" name="Shape 5"/>
          <p:cNvSpPr/>
          <p:nvPr/>
        </p:nvSpPr>
        <p:spPr>
          <a:xfrm>
            <a:off x="640080" y="3429000"/>
            <a:ext cx="10881360" cy="1005840"/>
          </a:xfrm>
          <a:prstGeom prst="roundRect">
            <a:avLst>
              <a:gd name="adj" fmla="val 10909"/>
            </a:avLst>
          </a:prstGeom>
          <a:solidFill>
            <a:srgbClr val="111C3D"/>
          </a:solidFill>
          <a:ln w="12700">
            <a:solidFill>
              <a:srgbClr val="1E2E5C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914400" y="3611880"/>
            <a:ext cx="640080" cy="640080"/>
          </a:xfrm>
          <a:prstGeom prst="ellipse">
            <a:avLst/>
          </a:prstGeom>
          <a:solidFill>
            <a:srgbClr val="15234A"/>
          </a:solidFill>
          <a:ln w="12700">
            <a:solidFill>
              <a:srgbClr val="22E5FF"/>
            </a:solidFill>
            <a:prstDash val="solid"/>
          </a:ln>
        </p:spPr>
      </p:sp>
      <p:pic>
        <p:nvPicPr>
          <p:cNvPr id="11" name="Image 2" descr="/home/claude/ppt/icons/scale_cya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7610" y="3695090"/>
            <a:ext cx="473659" cy="473659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828800" y="3429000"/>
            <a:ext cx="9418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should be developed responsibly and ethically.</a:t>
            </a:r>
            <a:endParaRPr lang="en-US" sz="1600" dirty="0"/>
          </a:p>
        </p:txBody>
      </p:sp>
      <p:sp>
        <p:nvSpPr>
          <p:cNvPr id="13" name="Shape 8"/>
          <p:cNvSpPr/>
          <p:nvPr/>
        </p:nvSpPr>
        <p:spPr>
          <a:xfrm>
            <a:off x="640080" y="4663440"/>
            <a:ext cx="10881360" cy="1005840"/>
          </a:xfrm>
          <a:prstGeom prst="roundRect">
            <a:avLst>
              <a:gd name="adj" fmla="val 10909"/>
            </a:avLst>
          </a:prstGeom>
          <a:solidFill>
            <a:srgbClr val="111C3D"/>
          </a:solidFill>
          <a:ln w="12700">
            <a:solidFill>
              <a:srgbClr val="1E2E5C"/>
            </a:solidFill>
            <a:prstDash val="solid"/>
          </a:ln>
        </p:spPr>
      </p:sp>
      <p:sp>
        <p:nvSpPr>
          <p:cNvPr id="14" name="Shape 9"/>
          <p:cNvSpPr/>
          <p:nvPr/>
        </p:nvSpPr>
        <p:spPr>
          <a:xfrm>
            <a:off x="914400" y="4846320"/>
            <a:ext cx="640080" cy="640080"/>
          </a:xfrm>
          <a:prstGeom prst="ellipse">
            <a:avLst/>
          </a:prstGeom>
          <a:solidFill>
            <a:srgbClr val="15234A"/>
          </a:solidFill>
          <a:ln w="12700">
            <a:solidFill>
              <a:srgbClr val="22E5FF"/>
            </a:solidFill>
            <a:prstDash val="solid"/>
          </a:ln>
        </p:spPr>
      </p:sp>
      <p:pic>
        <p:nvPicPr>
          <p:cNvPr id="15" name="Image 3" descr="/home/claude/ppt/icons/handshak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7610" y="4929530"/>
            <a:ext cx="473659" cy="473659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1828800" y="4663440"/>
            <a:ext cx="9418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Humans and AI will work together to solve future challenges.</a:t>
            </a:r>
            <a:endParaRPr lang="en-US" sz="1600" dirty="0"/>
          </a:p>
        </p:txBody>
      </p:sp>
      <p:sp>
        <p:nvSpPr>
          <p:cNvPr id="17" name="Text 11"/>
          <p:cNvSpPr/>
          <p:nvPr/>
        </p:nvSpPr>
        <p:spPr>
          <a:xfrm>
            <a:off x="10911535" y="640080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3A5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12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200" kern="0" dirty="0">
                <a:solidFill>
                  <a:srgbClr val="93A5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FUTURE OF AI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507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ppt/assets/bg_network.png">    </p:cNvPr>
          <p:cNvPicPr>
            <a:picLocks noChangeAspect="1"/>
          </p:cNvPicPr>
          <p:nvPr/>
        </p:nvPicPr>
        <p:blipFill>
          <a:blip r:embed="rId1">
            <a:alphaModFix amt="30000"/>
          </a:blip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169768" y="548640"/>
            <a:ext cx="5852160" cy="5852160"/>
          </a:xfrm>
          <a:prstGeom prst="ellipse">
            <a:avLst/>
          </a:prstGeom>
          <a:solidFill>
            <a:srgbClr val="0B2A44">
              <a:alpha val="40000"/>
            </a:srgbClr>
          </a:solidFill>
          <a:ln/>
        </p:spPr>
      </p:sp>
      <p:pic>
        <p:nvPicPr>
          <p:cNvPr id="4" name="Image 1" descr="/home/claude/ppt/icons/quotelef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30088" y="1371600"/>
            <a:ext cx="731520" cy="73152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188720" y="2468880"/>
            <a:ext cx="9814255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4000"/>
              </a:lnSpc>
              <a:buNone/>
            </a:pPr>
            <a:r>
              <a:rPr lang="en-US" sz="30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future belongs not to AI alone, but to people who know how to work with AI.</a:t>
            </a:r>
            <a:endParaRPr lang="en-US" sz="3000" dirty="0"/>
          </a:p>
        </p:txBody>
      </p:sp>
      <p:sp>
        <p:nvSpPr>
          <p:cNvPr id="6" name="Shape 2"/>
          <p:cNvSpPr/>
          <p:nvPr/>
        </p:nvSpPr>
        <p:spPr>
          <a:xfrm>
            <a:off x="5638648" y="4709160"/>
            <a:ext cx="914400" cy="18288"/>
          </a:xfrm>
          <a:prstGeom prst="rect">
            <a:avLst/>
          </a:prstGeom>
          <a:solidFill>
            <a:srgbClr val="22E5FF"/>
          </a:solidFill>
          <a:ln/>
        </p:spPr>
      </p:sp>
      <p:sp>
        <p:nvSpPr>
          <p:cNvPr id="7" name="Text 3"/>
          <p:cNvSpPr/>
          <p:nvPr/>
        </p:nvSpPr>
        <p:spPr>
          <a:xfrm>
            <a:off x="10911535" y="640080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3A5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12</a:t>
            </a:r>
            <a:endParaRPr lang="en-US" sz="1000" dirty="0"/>
          </a:p>
        </p:txBody>
      </p:sp>
      <p:sp>
        <p:nvSpPr>
          <p:cNvPr id="8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200" kern="0" dirty="0">
                <a:solidFill>
                  <a:srgbClr val="93A5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FUTURE OF AI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507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ppt/assets/bg_network.png">    </p:cNvPr>
          <p:cNvPicPr>
            <a:picLocks noChangeAspect="1"/>
          </p:cNvPicPr>
          <p:nvPr/>
        </p:nvPicPr>
        <p:blipFill>
          <a:blip r:embed="rId1">
            <a:alphaModFix amt="32000"/>
          </a:blip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2804008" y="320040"/>
            <a:ext cx="6583680" cy="6583680"/>
          </a:xfrm>
          <a:prstGeom prst="ellipse">
            <a:avLst/>
          </a:prstGeom>
          <a:solidFill>
            <a:srgbClr val="0B2A44">
              <a:alpha val="4500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5410048" y="1051560"/>
            <a:ext cx="1371600" cy="1371600"/>
          </a:xfrm>
          <a:prstGeom prst="ellipse">
            <a:avLst/>
          </a:prstGeom>
          <a:solidFill>
            <a:srgbClr val="0C1836"/>
          </a:solidFill>
          <a:ln w="25400">
            <a:solidFill>
              <a:srgbClr val="22E5FF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40000"/>
              </a:srgbClr>
            </a:outerShdw>
          </a:effectLst>
        </p:spPr>
      </p:sp>
      <p:pic>
        <p:nvPicPr>
          <p:cNvPr id="5" name="Image 1" descr="/home/claude/ppt/icons/brain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88356" y="1229868"/>
            <a:ext cx="1014984" cy="1014984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0" y="2880360"/>
            <a:ext cx="1219169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4800" dirty="0"/>
          </a:p>
        </p:txBody>
      </p:sp>
      <p:sp>
        <p:nvSpPr>
          <p:cNvPr id="7" name="Text 3"/>
          <p:cNvSpPr/>
          <p:nvPr/>
        </p:nvSpPr>
        <p:spPr>
          <a:xfrm>
            <a:off x="0" y="3794760"/>
            <a:ext cx="121916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22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 Welcome</a:t>
            </a:r>
            <a:endParaRPr lang="en-US" sz="1600" dirty="0"/>
          </a:p>
        </p:txBody>
      </p:sp>
      <p:sp>
        <p:nvSpPr>
          <p:cNvPr id="8" name="Text 4"/>
          <p:cNvSpPr/>
          <p:nvPr/>
        </p:nvSpPr>
        <p:spPr>
          <a:xfrm>
            <a:off x="0" y="6263640"/>
            <a:ext cx="121916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3A5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BCA — AI &amp; ML  |  The Future of Artificial Intelligence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2026-08-07T08:33:56Z</dcterms:created>
  <dcterms:modified xsi:type="dcterms:W3CDTF">2026-08-07T08:33:56Z</dcterms:modified>
</cp:coreProperties>
</file>